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70" r:id="rId13"/>
    <p:sldId id="267" r:id="rId14"/>
    <p:sldId id="27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 mediu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Stil mediu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Fără stil, grilă tabel">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01"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1/20/2026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4080426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1/20/2026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6950482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1/20/2026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5617224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1/20/2026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8782812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1/20/2026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9335614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1/20/2026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7677341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1/20/2026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1508521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1/20/2026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0107295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1/20/2026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1690564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1/20/2026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689168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1/20/2026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3997819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1/20/2026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769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u 1">
            <a:extLst>
              <a:ext uri="{FF2B5EF4-FFF2-40B4-BE49-F238E27FC236}">
                <a16:creationId xmlns:a16="http://schemas.microsoft.com/office/drawing/2014/main" id="{17713F54-294D-1844-8771-B5B80FCB874E}"/>
              </a:ext>
            </a:extLst>
          </p:cNvPr>
          <p:cNvSpPr>
            <a:spLocks noGrp="1"/>
          </p:cNvSpPr>
          <p:nvPr>
            <p:ph type="ctrTitle"/>
          </p:nvPr>
        </p:nvSpPr>
        <p:spPr>
          <a:xfrm>
            <a:off x="5604552" y="871758"/>
            <a:ext cx="5825448" cy="3871143"/>
          </a:xfrm>
        </p:spPr>
        <p:txBody>
          <a:bodyPr>
            <a:normAutofit fontScale="90000"/>
          </a:bodyPr>
          <a:lstStyle/>
          <a:p>
            <a:r>
              <a:rPr lang="en-US" dirty="0" err="1">
                <a:latin typeface="Aptos" panose="020B0004020202020204" pitchFamily="34" charset="0"/>
              </a:rPr>
              <a:t>Clasificarea</a:t>
            </a:r>
            <a:r>
              <a:rPr lang="en-US" dirty="0">
                <a:latin typeface="Aptos" panose="020B0004020202020204" pitchFamily="34" charset="0"/>
              </a:rPr>
              <a:t> mi</a:t>
            </a:r>
            <a:r>
              <a:rPr lang="ro-RO" dirty="0" err="1">
                <a:latin typeface="Aptos" panose="020B0004020202020204" pitchFamily="34" charset="0"/>
              </a:rPr>
              <a:t>șcărilor</a:t>
            </a:r>
            <a:r>
              <a:rPr lang="ro-RO" dirty="0">
                <a:latin typeface="Aptos" panose="020B0004020202020204" pitchFamily="34" charset="0"/>
              </a:rPr>
              <a:t> prin intermediul semnalelor EMG</a:t>
            </a:r>
            <a:endParaRPr lang="en-US" dirty="0">
              <a:latin typeface="Aptos" panose="020B0004020202020204" pitchFamily="34" charset="0"/>
            </a:endParaRPr>
          </a:p>
        </p:txBody>
      </p:sp>
      <p:sp>
        <p:nvSpPr>
          <p:cNvPr id="3" name="Subtitlu 2">
            <a:extLst>
              <a:ext uri="{FF2B5EF4-FFF2-40B4-BE49-F238E27FC236}">
                <a16:creationId xmlns:a16="http://schemas.microsoft.com/office/drawing/2014/main" id="{EADA05A7-FB3A-01F6-46D6-D8A76B9DAC82}"/>
              </a:ext>
            </a:extLst>
          </p:cNvPr>
          <p:cNvSpPr>
            <a:spLocks noGrp="1"/>
          </p:cNvSpPr>
          <p:nvPr>
            <p:ph type="subTitle" idx="1"/>
          </p:nvPr>
        </p:nvSpPr>
        <p:spPr>
          <a:xfrm>
            <a:off x="5619964" y="4785543"/>
            <a:ext cx="5322013" cy="1005657"/>
          </a:xfrm>
        </p:spPr>
        <p:txBody>
          <a:bodyPr>
            <a:normAutofit/>
          </a:bodyPr>
          <a:lstStyle/>
          <a:p>
            <a:r>
              <a:rPr lang="ro-RO" dirty="0"/>
              <a:t>Cocea Radu și Mușat Daniel, Master </a:t>
            </a:r>
            <a:r>
              <a:rPr lang="ro-RO" dirty="0" err="1"/>
              <a:t>Biosinf</a:t>
            </a:r>
            <a:endParaRPr lang="en-US" dirty="0"/>
          </a:p>
        </p:txBody>
      </p:sp>
      <p:cxnSp>
        <p:nvCxnSpPr>
          <p:cNvPr id="11" name="Straight Connector 10">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23776" y="723900"/>
            <a:ext cx="5706224"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CF06E40-3ECB-4820-95B5-8A70B07D4B4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23776" y="6134100"/>
            <a:ext cx="566812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Dreptunghi 4">
            <a:extLst>
              <a:ext uri="{FF2B5EF4-FFF2-40B4-BE49-F238E27FC236}">
                <a16:creationId xmlns:a16="http://schemas.microsoft.com/office/drawing/2014/main" id="{D13921F5-7144-06AF-C1A8-021A3D69FCC7}"/>
              </a:ext>
            </a:extLst>
          </p:cNvPr>
          <p:cNvSpPr/>
          <p:nvPr/>
        </p:nvSpPr>
        <p:spPr>
          <a:xfrm>
            <a:off x="-15412" y="0"/>
            <a:ext cx="4857964" cy="6858000"/>
          </a:xfrm>
          <a:prstGeom prst="rect">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278747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B3CA38D-7BB0-4D35-BE00-0F48766027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u 1">
            <a:extLst>
              <a:ext uri="{FF2B5EF4-FFF2-40B4-BE49-F238E27FC236}">
                <a16:creationId xmlns:a16="http://schemas.microsoft.com/office/drawing/2014/main" id="{F933D6E0-FF42-F159-C8FE-7AA1EDA2D334}"/>
              </a:ext>
            </a:extLst>
          </p:cNvPr>
          <p:cNvSpPr>
            <a:spLocks noGrp="1"/>
          </p:cNvSpPr>
          <p:nvPr>
            <p:ph type="title"/>
          </p:nvPr>
        </p:nvSpPr>
        <p:spPr>
          <a:xfrm>
            <a:off x="700635" y="913218"/>
            <a:ext cx="10691265" cy="1371030"/>
          </a:xfrm>
        </p:spPr>
        <p:txBody>
          <a:bodyPr>
            <a:normAutofit/>
          </a:bodyPr>
          <a:lstStyle/>
          <a:p>
            <a:r>
              <a:rPr lang="en-US" dirty="0" err="1">
                <a:latin typeface="Aptos" panose="020B0004020202020204" pitchFamily="34" charset="0"/>
              </a:rPr>
              <a:t>Definirea</a:t>
            </a:r>
            <a:r>
              <a:rPr lang="en-US" dirty="0">
                <a:latin typeface="Aptos" panose="020B0004020202020204" pitchFamily="34" charset="0"/>
              </a:rPr>
              <a:t> </a:t>
            </a:r>
            <a:r>
              <a:rPr lang="ro-RO" dirty="0">
                <a:latin typeface="Aptos" panose="020B0004020202020204" pitchFamily="34" charset="0"/>
              </a:rPr>
              <a:t>Proiectului</a:t>
            </a:r>
            <a:endParaRPr lang="en-US" dirty="0">
              <a:latin typeface="Aptos" panose="020B0004020202020204" pitchFamily="34" charset="0"/>
            </a:endParaRPr>
          </a:p>
        </p:txBody>
      </p:sp>
      <mc:AlternateContent xmlns:mc="http://schemas.openxmlformats.org/markup-compatibility/2006" xmlns:a14="http://schemas.microsoft.com/office/drawing/2010/main">
        <mc:Choice Requires="a14">
          <p:sp>
            <p:nvSpPr>
              <p:cNvPr id="3" name="Substituent conținut 2">
                <a:extLst>
                  <a:ext uri="{FF2B5EF4-FFF2-40B4-BE49-F238E27FC236}">
                    <a16:creationId xmlns:a16="http://schemas.microsoft.com/office/drawing/2014/main" id="{7D197179-363A-3FF4-41D0-AEBA8F254A8A}"/>
                  </a:ext>
                </a:extLst>
              </p:cNvPr>
              <p:cNvSpPr>
                <a:spLocks noGrp="1"/>
              </p:cNvSpPr>
              <p:nvPr>
                <p:ph idx="1"/>
              </p:nvPr>
            </p:nvSpPr>
            <p:spPr>
              <a:xfrm>
                <a:off x="700635" y="2221992"/>
                <a:ext cx="10691265" cy="3739896"/>
              </a:xfrm>
            </p:spPr>
            <p:txBody>
              <a:bodyPr>
                <a:normAutofit/>
              </a:bodyPr>
              <a:lstStyle/>
              <a:p>
                <a:pPr>
                  <a:buFont typeface="Wingdings" panose="05000000000000000000" pitchFamily="2" charset="2"/>
                  <a:buChar char="q"/>
                </a:pPr>
                <a:r>
                  <a:rPr lang="ro-RO" dirty="0">
                    <a:latin typeface="Aptos" panose="020B0004020202020204" pitchFamily="34" charset="0"/>
                  </a:rPr>
                  <a:t> Clasificarea mișcărilor pe baza semnalelor EMG</a:t>
                </a:r>
                <a:r>
                  <a:rPr lang="en-US" dirty="0">
                    <a:latin typeface="Aptos" panose="020B0004020202020204" pitchFamily="34" charset="0"/>
                  </a:rPr>
                  <a:t>:</a:t>
                </a:r>
              </a:p>
              <a:p>
                <a:pPr>
                  <a:buFont typeface="Wingdings" panose="05000000000000000000" pitchFamily="2" charset="2"/>
                  <a:buChar char="q"/>
                </a:pPr>
                <a:r>
                  <a:rPr lang="en-US" dirty="0">
                    <a:latin typeface="Aptos" panose="020B0004020202020204" pitchFamily="34" charset="0"/>
                  </a:rPr>
                  <a:t> </a:t>
                </a:r>
                <a:r>
                  <a:rPr lang="en-US" dirty="0" err="1">
                    <a:latin typeface="Aptos" panose="020B0004020202020204" pitchFamily="34" charset="0"/>
                  </a:rPr>
                  <a:t>Setul</a:t>
                </a:r>
                <a:r>
                  <a:rPr lang="en-US" dirty="0">
                    <a:latin typeface="Aptos" panose="020B0004020202020204" pitchFamily="34" charset="0"/>
                  </a:rPr>
                  <a:t> de date:</a:t>
                </a:r>
                <a:endParaRPr lang="ro-RO" dirty="0">
                  <a:latin typeface="Aptos" panose="020B0004020202020204" pitchFamily="34" charset="0"/>
                </a:endParaRPr>
              </a:p>
              <a:p>
                <a:pPr lvl="1"/>
                <a:r>
                  <a:rPr lang="en-US" sz="2000" dirty="0" err="1">
                    <a:latin typeface="Aptos" panose="020B0004020202020204" pitchFamily="34" charset="0"/>
                  </a:rPr>
                  <a:t>sEmg_databases</a:t>
                </a:r>
                <a:r>
                  <a:rPr lang="ro-RO" sz="2000" dirty="0">
                    <a:latin typeface="Aptos" panose="020B0004020202020204" pitchFamily="34" charset="0"/>
                  </a:rPr>
                  <a:t> </a:t>
                </a:r>
                <a:r>
                  <a:rPr lang="en-US" sz="2000" dirty="0">
                    <a:latin typeface="Aptos" panose="020B0004020202020204" pitchFamily="34" charset="0"/>
                  </a:rPr>
                  <a:t>101 </a:t>
                </a:r>
                <a:r>
                  <a:rPr lang="ro-RO" sz="2000" dirty="0">
                    <a:latin typeface="Aptos" panose="020B0004020202020204" pitchFamily="34" charset="0"/>
                  </a:rPr>
                  <a:t>s</a:t>
                </a:r>
                <a:r>
                  <a:rPr lang="en-US" sz="2000" dirty="0" err="1">
                    <a:latin typeface="Aptos" panose="020B0004020202020204" pitchFamily="34" charset="0"/>
                  </a:rPr>
                  <a:t>ubiec</a:t>
                </a:r>
                <a:r>
                  <a:rPr lang="ro-RO" sz="2000" dirty="0">
                    <a:latin typeface="Aptos" panose="020B0004020202020204" pitchFamily="34" charset="0"/>
                  </a:rPr>
                  <a:t>ți care au realizat câte 3 tipuri de exerciții cu durata de 60 de secunde. Dispozitivul de achiziție a folosit 8 canale separate.</a:t>
                </a:r>
              </a:p>
              <a:p>
                <a:pPr lvl="1"/>
                <a:r>
                  <a:rPr lang="ro-RO" sz="2000" dirty="0">
                    <a:latin typeface="Aptos" panose="020B0004020202020204" pitchFamily="34" charset="0"/>
                  </a:rPr>
                  <a:t>Fiecare canal a fost eșantionat cu frecvență de eșantionare </a:t>
                </a:r>
                <a14:m>
                  <m:oMath xmlns:m="http://schemas.openxmlformats.org/officeDocument/2006/math">
                    <m:sSub>
                      <m:sSubPr>
                        <m:ctrlPr>
                          <a:rPr lang="ro-RO" sz="2000" i="1" smtClean="0">
                            <a:latin typeface="Cambria Math" panose="02040503050406030204" pitchFamily="18" charset="0"/>
                          </a:rPr>
                        </m:ctrlPr>
                      </m:sSubPr>
                      <m:e>
                        <m:r>
                          <a:rPr lang="ro-RO" sz="2000" b="0" i="1" smtClean="0">
                            <a:latin typeface="Cambria Math" panose="02040503050406030204" pitchFamily="18" charset="0"/>
                          </a:rPr>
                          <m:t>𝑓</m:t>
                        </m:r>
                      </m:e>
                      <m:sub>
                        <m:r>
                          <a:rPr lang="ro-RO" sz="2000" b="0" i="1" smtClean="0">
                            <a:latin typeface="Cambria Math" panose="02040503050406030204" pitchFamily="18" charset="0"/>
                          </a:rPr>
                          <m:t>𝑠</m:t>
                        </m:r>
                      </m:sub>
                    </m:sSub>
                    <m:r>
                      <a:rPr lang="ro-RO" sz="2000" b="0" i="1" smtClean="0">
                        <a:latin typeface="Cambria Math" panose="02040503050406030204" pitchFamily="18" charset="0"/>
                      </a:rPr>
                      <m:t>=512 </m:t>
                    </m:r>
                    <m:r>
                      <a:rPr lang="ro-RO" sz="2000" b="0" i="1" smtClean="0">
                        <a:latin typeface="Cambria Math" panose="02040503050406030204" pitchFamily="18" charset="0"/>
                      </a:rPr>
                      <m:t>𝐻𝑧</m:t>
                    </m:r>
                  </m:oMath>
                </a14:m>
                <a:r>
                  <a:rPr lang="ro-RO" sz="2000" dirty="0">
                    <a:latin typeface="Aptos" panose="020B0004020202020204" pitchFamily="34" charset="0"/>
                  </a:rPr>
                  <a:t>.</a:t>
                </a:r>
              </a:p>
              <a:p>
                <a:pPr>
                  <a:buFont typeface="Wingdings" panose="05000000000000000000" pitchFamily="2" charset="2"/>
                  <a:buChar char="q"/>
                </a:pPr>
                <a:r>
                  <a:rPr lang="ro-RO" dirty="0">
                    <a:latin typeface="Aptos" panose="020B0004020202020204" pitchFamily="34" charset="0"/>
                  </a:rPr>
                  <a:t> Clasificarea semnalelor</a:t>
                </a:r>
                <a:r>
                  <a:rPr lang="en-US" dirty="0">
                    <a:latin typeface="Aptos" panose="020B0004020202020204" pitchFamily="34" charset="0"/>
                  </a:rPr>
                  <a:t> </a:t>
                </a:r>
                <a:r>
                  <a:rPr lang="ro-RO" dirty="0">
                    <a:latin typeface="Aptos" panose="020B0004020202020204" pitchFamily="34" charset="0"/>
                  </a:rPr>
                  <a:t>și modelele folosite</a:t>
                </a:r>
                <a:r>
                  <a:rPr lang="en-US" dirty="0">
                    <a:latin typeface="Aptos" panose="020B0004020202020204" pitchFamily="34" charset="0"/>
                  </a:rPr>
                  <a:t>:</a:t>
                </a:r>
              </a:p>
              <a:p>
                <a:pPr lvl="1"/>
                <a:r>
                  <a:rPr lang="ro-RO" sz="2000" dirty="0" err="1">
                    <a:latin typeface="Aptos" panose="020B0004020202020204" pitchFamily="34" charset="0"/>
                  </a:rPr>
                  <a:t>Random</a:t>
                </a:r>
                <a:r>
                  <a:rPr lang="ro-RO" sz="2000" dirty="0">
                    <a:latin typeface="Aptos" panose="020B0004020202020204" pitchFamily="34" charset="0"/>
                  </a:rPr>
                  <a:t> Forest</a:t>
                </a:r>
              </a:p>
              <a:p>
                <a:pPr lvl="1"/>
                <a:r>
                  <a:rPr lang="ro-RO" sz="2000" dirty="0">
                    <a:latin typeface="Aptos" panose="020B0004020202020204" pitchFamily="34" charset="0"/>
                  </a:rPr>
                  <a:t>Mașină cu Vector Suport (SVM - </a:t>
                </a:r>
                <a:r>
                  <a:rPr lang="ro-RO" sz="2000" dirty="0" err="1">
                    <a:latin typeface="Aptos" panose="020B0004020202020204" pitchFamily="34" charset="0"/>
                  </a:rPr>
                  <a:t>Support</a:t>
                </a:r>
                <a:r>
                  <a:rPr lang="ro-RO" sz="2000" dirty="0">
                    <a:latin typeface="Aptos" panose="020B0004020202020204" pitchFamily="34" charset="0"/>
                  </a:rPr>
                  <a:t> Vector </a:t>
                </a:r>
                <a:r>
                  <a:rPr lang="ro-RO" sz="2000" dirty="0" err="1">
                    <a:latin typeface="Aptos" panose="020B0004020202020204" pitchFamily="34" charset="0"/>
                  </a:rPr>
                  <a:t>Machine</a:t>
                </a:r>
                <a:r>
                  <a:rPr lang="ro-RO" sz="2000" dirty="0">
                    <a:latin typeface="Aptos" panose="020B0004020202020204" pitchFamily="34" charset="0"/>
                  </a:rPr>
                  <a:t>)</a:t>
                </a:r>
              </a:p>
              <a:p>
                <a:pPr lvl="1"/>
                <a:r>
                  <a:rPr lang="ro-RO" sz="2000" dirty="0" err="1">
                    <a:latin typeface="Aptos" panose="020B0004020202020204" pitchFamily="34" charset="0"/>
                  </a:rPr>
                  <a:t>Perceptron</a:t>
                </a:r>
                <a:r>
                  <a:rPr lang="ro-RO" sz="2000" dirty="0">
                    <a:latin typeface="Aptos" panose="020B0004020202020204" pitchFamily="34" charset="0"/>
                  </a:rPr>
                  <a:t> Multistrat (MLP – </a:t>
                </a:r>
                <a:r>
                  <a:rPr lang="ro-RO" sz="2000" dirty="0" err="1">
                    <a:latin typeface="Aptos" panose="020B0004020202020204" pitchFamily="34" charset="0"/>
                  </a:rPr>
                  <a:t>Multilayer</a:t>
                </a:r>
                <a:r>
                  <a:rPr lang="ro-RO" sz="2000" dirty="0">
                    <a:latin typeface="Aptos" panose="020B0004020202020204" pitchFamily="34" charset="0"/>
                  </a:rPr>
                  <a:t> </a:t>
                </a:r>
                <a:r>
                  <a:rPr lang="ro-RO" sz="2000" dirty="0" err="1">
                    <a:latin typeface="Aptos" panose="020B0004020202020204" pitchFamily="34" charset="0"/>
                  </a:rPr>
                  <a:t>Perceptron</a:t>
                </a:r>
                <a:r>
                  <a:rPr lang="ro-RO" sz="2000" dirty="0">
                    <a:latin typeface="Aptos" panose="020B0004020202020204" pitchFamily="34" charset="0"/>
                  </a:rPr>
                  <a:t>)</a:t>
                </a:r>
              </a:p>
              <a:p>
                <a:pPr marL="457200" lvl="1" indent="0">
                  <a:buNone/>
                </a:pPr>
                <a:endParaRPr lang="ro-RO" dirty="0"/>
              </a:p>
              <a:p>
                <a:endParaRPr lang="en-US" dirty="0"/>
              </a:p>
            </p:txBody>
          </p:sp>
        </mc:Choice>
        <mc:Fallback xmlns="">
          <p:sp>
            <p:nvSpPr>
              <p:cNvPr id="3" name="Substituent conținut 2">
                <a:extLst>
                  <a:ext uri="{FF2B5EF4-FFF2-40B4-BE49-F238E27FC236}">
                    <a16:creationId xmlns:a16="http://schemas.microsoft.com/office/drawing/2014/main" id="{7D197179-363A-3FF4-41D0-AEBA8F254A8A}"/>
                  </a:ext>
                </a:extLst>
              </p:cNvPr>
              <p:cNvSpPr>
                <a:spLocks noGrp="1" noRot="1" noChangeAspect="1" noMove="1" noResize="1" noEditPoints="1" noAdjustHandles="1" noChangeArrowheads="1" noChangeShapeType="1" noTextEdit="1"/>
              </p:cNvSpPr>
              <p:nvPr>
                <p:ph idx="1"/>
              </p:nvPr>
            </p:nvSpPr>
            <p:spPr>
              <a:xfrm>
                <a:off x="700635" y="2221992"/>
                <a:ext cx="10691265" cy="3739896"/>
              </a:xfrm>
              <a:blipFill>
                <a:blip r:embed="rId2"/>
                <a:stretch>
                  <a:fillRect l="-513" t="-489" b="-979"/>
                </a:stretch>
              </a:blipFill>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4514FD1B-A0BF-4C73-A68E-4B1F7299F6A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8B100A6-1EBC-40AB-BB7E-26807F3CFC3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28216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6BDD8B6A-B191-096C-3816-FAE4B2B33812}"/>
              </a:ext>
            </a:extLst>
          </p:cNvPr>
          <p:cNvSpPr>
            <a:spLocks noGrp="1"/>
          </p:cNvSpPr>
          <p:nvPr>
            <p:ph type="title"/>
          </p:nvPr>
        </p:nvSpPr>
        <p:spPr/>
        <p:txBody>
          <a:bodyPr/>
          <a:lstStyle/>
          <a:p>
            <a:r>
              <a:rPr lang="ro-RO" dirty="0">
                <a:latin typeface="Aptos" panose="020B0004020202020204" pitchFamily="34" charset="0"/>
              </a:rPr>
              <a:t>Preprocesarea Datelor</a:t>
            </a:r>
            <a:endParaRPr lang="en-US" dirty="0">
              <a:latin typeface="Aptos" panose="020B0004020202020204" pitchFamily="34" charset="0"/>
            </a:endParaRPr>
          </a:p>
        </p:txBody>
      </p:sp>
      <mc:AlternateContent xmlns:mc="http://schemas.openxmlformats.org/markup-compatibility/2006" xmlns:a14="http://schemas.microsoft.com/office/drawing/2010/main">
        <mc:Choice Requires="a14">
          <p:sp>
            <p:nvSpPr>
              <p:cNvPr id="3" name="Substituent conținut 2">
                <a:extLst>
                  <a:ext uri="{FF2B5EF4-FFF2-40B4-BE49-F238E27FC236}">
                    <a16:creationId xmlns:a16="http://schemas.microsoft.com/office/drawing/2014/main" id="{2F46EE43-2001-ED86-31F5-3309996B4620}"/>
                  </a:ext>
                </a:extLst>
              </p:cNvPr>
              <p:cNvSpPr>
                <a:spLocks noGrp="1"/>
              </p:cNvSpPr>
              <p:nvPr>
                <p:ph idx="1"/>
              </p:nvPr>
            </p:nvSpPr>
            <p:spPr>
              <a:xfrm>
                <a:off x="700634" y="2310701"/>
                <a:ext cx="10691265" cy="3739896"/>
              </a:xfrm>
            </p:spPr>
            <p:txBody>
              <a:bodyPr/>
              <a:lstStyle/>
              <a:p>
                <a:pPr>
                  <a:buFont typeface="Wingdings" panose="05000000000000000000" pitchFamily="2" charset="2"/>
                  <a:buChar char="q"/>
                </a:pPr>
                <a:r>
                  <a:rPr lang="ro-RO" dirty="0"/>
                  <a:t> </a:t>
                </a:r>
                <a:r>
                  <a:rPr lang="ro-RO" dirty="0">
                    <a:latin typeface="Aptos" panose="020B0004020202020204" pitchFamily="34" charset="0"/>
                  </a:rPr>
                  <a:t>Curățarea și filtrarea datelor</a:t>
                </a:r>
                <a:r>
                  <a:rPr lang="en-US" dirty="0">
                    <a:latin typeface="Aptos" panose="020B0004020202020204" pitchFamily="34" charset="0"/>
                  </a:rPr>
                  <a:t>:</a:t>
                </a:r>
              </a:p>
              <a:p>
                <a:pPr lvl="1"/>
                <a:r>
                  <a:rPr lang="en-US" sz="2000" dirty="0" err="1">
                    <a:latin typeface="Aptos" panose="020B0004020202020204" pitchFamily="34" charset="0"/>
                  </a:rPr>
                  <a:t>Eliminarea</a:t>
                </a:r>
                <a:r>
                  <a:rPr lang="en-US" sz="2000" dirty="0">
                    <a:latin typeface="Aptos" panose="020B0004020202020204" pitchFamily="34" charset="0"/>
                  </a:rPr>
                  <a:t> </a:t>
                </a:r>
                <a:r>
                  <a:rPr lang="en-US" sz="2000" dirty="0" err="1">
                    <a:latin typeface="Aptos" panose="020B0004020202020204" pitchFamily="34" charset="0"/>
                  </a:rPr>
                  <a:t>zgomotului</a:t>
                </a:r>
                <a:r>
                  <a:rPr lang="en-US" sz="2000" dirty="0">
                    <a:latin typeface="Aptos" panose="020B0004020202020204" pitchFamily="34" charset="0"/>
                  </a:rPr>
                  <a:t>:</a:t>
                </a:r>
              </a:p>
              <a:p>
                <a:pPr lvl="2">
                  <a:buFont typeface="Courier New" panose="02070309020205020404" pitchFamily="49" charset="0"/>
                  <a:buChar char="o"/>
                </a:pPr>
                <a:r>
                  <a:rPr lang="en-US" sz="2000" dirty="0" err="1">
                    <a:latin typeface="Aptos" panose="020B0004020202020204" pitchFamily="34" charset="0"/>
                  </a:rPr>
                  <a:t>Filtru</a:t>
                </a:r>
                <a:r>
                  <a:rPr lang="en-US" sz="2000" dirty="0">
                    <a:latin typeface="Aptos" panose="020B0004020202020204" pitchFamily="34" charset="0"/>
                  </a:rPr>
                  <a:t> </a:t>
                </a:r>
                <a:r>
                  <a:rPr lang="en-US" sz="2000" dirty="0" err="1">
                    <a:latin typeface="Aptos" panose="020B0004020202020204" pitchFamily="34" charset="0"/>
                  </a:rPr>
                  <a:t>trece</a:t>
                </a:r>
                <a:r>
                  <a:rPr lang="en-US" sz="2000" dirty="0">
                    <a:latin typeface="Aptos" panose="020B0004020202020204" pitchFamily="34" charset="0"/>
                  </a:rPr>
                  <a:t> </a:t>
                </a:r>
                <a:r>
                  <a:rPr lang="ro-RO" sz="2000" dirty="0">
                    <a:latin typeface="Aptos" panose="020B0004020202020204" pitchFamily="34" charset="0"/>
                  </a:rPr>
                  <a:t>bandă cu frecvența de tăiere inferioară 20 Hz (</a:t>
                </a:r>
                <a14:m>
                  <m:oMath xmlns:m="http://schemas.openxmlformats.org/officeDocument/2006/math">
                    <m:sSub>
                      <m:sSubPr>
                        <m:ctrlPr>
                          <a:rPr lang="ro-RO" sz="2000" b="0" i="1" smtClean="0">
                            <a:latin typeface="Cambria Math" panose="02040503050406030204" pitchFamily="18" charset="0"/>
                          </a:rPr>
                        </m:ctrlPr>
                      </m:sSubPr>
                      <m:e>
                        <m:r>
                          <a:rPr lang="ro-RO" sz="2000" b="0" i="1" smtClean="0">
                            <a:latin typeface="Cambria Math" panose="02040503050406030204" pitchFamily="18" charset="0"/>
                          </a:rPr>
                          <m:t>𝑓</m:t>
                        </m:r>
                      </m:e>
                      <m:sub>
                        <m:r>
                          <a:rPr lang="ro-RO" sz="2000" b="0" i="1" smtClean="0">
                            <a:latin typeface="Cambria Math" panose="02040503050406030204" pitchFamily="18" charset="0"/>
                          </a:rPr>
                          <m:t>𝑛</m:t>
                        </m:r>
                      </m:sub>
                    </m:sSub>
                    <m:r>
                      <a:rPr lang="ro-RO" sz="2000" b="0" i="1" smtClean="0">
                        <a:latin typeface="Cambria Math" panose="02040503050406030204" pitchFamily="18" charset="0"/>
                      </a:rPr>
                      <m:t>=0.039) </m:t>
                    </m:r>
                  </m:oMath>
                </a14:m>
                <a:r>
                  <a:rPr lang="ro-RO" sz="2000" dirty="0">
                    <a:latin typeface="Aptos" panose="020B0004020202020204" pitchFamily="34" charset="0"/>
                  </a:rPr>
                  <a:t>și frecvența de tăiere superioară  200 Hz (</a:t>
                </a:r>
                <a14:m>
                  <m:oMath xmlns:m="http://schemas.openxmlformats.org/officeDocument/2006/math">
                    <m:sSub>
                      <m:sSubPr>
                        <m:ctrlPr>
                          <a:rPr lang="ro-RO" sz="2000" i="1">
                            <a:latin typeface="Cambria Math" panose="02040503050406030204" pitchFamily="18" charset="0"/>
                          </a:rPr>
                        </m:ctrlPr>
                      </m:sSubPr>
                      <m:e>
                        <m:r>
                          <a:rPr lang="ro-RO" sz="2000" i="1">
                            <a:latin typeface="Cambria Math" panose="02040503050406030204" pitchFamily="18" charset="0"/>
                          </a:rPr>
                          <m:t>𝑓</m:t>
                        </m:r>
                      </m:e>
                      <m:sub>
                        <m:r>
                          <a:rPr lang="ro-RO" sz="2000" i="1">
                            <a:latin typeface="Cambria Math" panose="02040503050406030204" pitchFamily="18" charset="0"/>
                          </a:rPr>
                          <m:t>𝑛</m:t>
                        </m:r>
                      </m:sub>
                    </m:sSub>
                    <m:r>
                      <a:rPr lang="ro-RO" sz="2000" i="1">
                        <a:latin typeface="Cambria Math" panose="02040503050406030204" pitchFamily="18" charset="0"/>
                      </a:rPr>
                      <m:t>=0.</m:t>
                    </m:r>
                    <m:r>
                      <a:rPr lang="ro-RO" sz="2000" b="0" i="1" smtClean="0">
                        <a:latin typeface="Cambria Math" panose="02040503050406030204" pitchFamily="18" charset="0"/>
                      </a:rPr>
                      <m:t>39</m:t>
                    </m:r>
                    <m:r>
                      <a:rPr lang="ro-RO" sz="2000" i="1">
                        <a:latin typeface="Cambria Math" panose="02040503050406030204" pitchFamily="18" charset="0"/>
                      </a:rPr>
                      <m:t>)</m:t>
                    </m:r>
                  </m:oMath>
                </a14:m>
                <a:r>
                  <a:rPr lang="ro-RO" sz="2000" dirty="0">
                    <a:latin typeface="Aptos" panose="020B0004020202020204" pitchFamily="34" charset="0"/>
                  </a:rPr>
                  <a:t> și ordinul 6</a:t>
                </a:r>
                <a:r>
                  <a:rPr lang="en-US" sz="2000" dirty="0">
                    <a:latin typeface="Aptos" panose="020B0004020202020204" pitchFamily="34" charset="0"/>
                  </a:rPr>
                  <a:t>.</a:t>
                </a:r>
                <a:endParaRPr lang="ro-RO" sz="2000" dirty="0">
                  <a:latin typeface="Aptos" panose="020B0004020202020204" pitchFamily="34" charset="0"/>
                </a:endParaRPr>
              </a:p>
              <a:p>
                <a:pPr lvl="2">
                  <a:buFont typeface="Courier New" panose="02070309020205020404" pitchFamily="49" charset="0"/>
                  <a:buChar char="o"/>
                </a:pPr>
                <a:r>
                  <a:rPr lang="ro-RO" sz="2000" dirty="0">
                    <a:latin typeface="Aptos" panose="020B0004020202020204" pitchFamily="34" charset="0"/>
                  </a:rPr>
                  <a:t>Am încercat să adăugăm un filtru </a:t>
                </a:r>
                <a:r>
                  <a:rPr lang="ro-RO" sz="2000" dirty="0" err="1">
                    <a:latin typeface="Aptos" panose="020B0004020202020204" pitchFamily="34" charset="0"/>
                  </a:rPr>
                  <a:t>notch</a:t>
                </a:r>
                <a:r>
                  <a:rPr lang="ro-RO" sz="2000" dirty="0">
                    <a:latin typeface="Aptos" panose="020B0004020202020204" pitchFamily="34" charset="0"/>
                  </a:rPr>
                  <a:t> pentru eliminarea reziduurilor de la rețea în jurul frecvenței de 60 de Hz, dar efectul acestuia nu a fost semnificativ motiv pentru care a fost eliminat. Acest aspect poate fi observa și în Figura  1</a:t>
                </a:r>
                <a:r>
                  <a:rPr lang="en-US" sz="2000" dirty="0">
                    <a:latin typeface="Aptos" panose="020B0004020202020204" pitchFamily="34" charset="0"/>
                  </a:rPr>
                  <a:t>.</a:t>
                </a:r>
                <a:endParaRPr lang="ro-RO" sz="2000" dirty="0">
                  <a:latin typeface="Aptos" panose="020B0004020202020204" pitchFamily="34" charset="0"/>
                </a:endParaRPr>
              </a:p>
              <a:p>
                <a:pPr lvl="2">
                  <a:buFont typeface="Courier New" panose="02070309020205020404" pitchFamily="49" charset="0"/>
                  <a:buChar char="o"/>
                </a:pPr>
                <a:r>
                  <a:rPr lang="ro-RO" sz="2000" dirty="0">
                    <a:latin typeface="Aptos" panose="020B0004020202020204" pitchFamily="34" charset="0"/>
                  </a:rPr>
                  <a:t>Am încercat utilizarea unui filtru bazat pe amplitudinea semnalului, care să aducă la valoarea 0 eșantioanele sub un anumit prag, dar rezultatele au fost și de această dată nes</a:t>
                </a:r>
                <a:r>
                  <a:rPr lang="en-US" sz="2000" dirty="0">
                    <a:latin typeface="Aptos" panose="020B0004020202020204" pitchFamily="34" charset="0"/>
                  </a:rPr>
                  <a:t>a</a:t>
                </a:r>
                <a:r>
                  <a:rPr lang="ro-RO" sz="2000" dirty="0" err="1">
                    <a:latin typeface="Aptos" panose="020B0004020202020204" pitchFamily="34" charset="0"/>
                  </a:rPr>
                  <a:t>tisfăcătoare</a:t>
                </a:r>
                <a:r>
                  <a:rPr lang="ro-RO" sz="2000" dirty="0">
                    <a:latin typeface="Aptos" panose="020B0004020202020204" pitchFamily="34" charset="0"/>
                  </a:rPr>
                  <a:t>.</a:t>
                </a:r>
              </a:p>
            </p:txBody>
          </p:sp>
        </mc:Choice>
        <mc:Fallback xmlns="">
          <p:sp>
            <p:nvSpPr>
              <p:cNvPr id="3" name="Substituent conținut 2">
                <a:extLst>
                  <a:ext uri="{FF2B5EF4-FFF2-40B4-BE49-F238E27FC236}">
                    <a16:creationId xmlns:a16="http://schemas.microsoft.com/office/drawing/2014/main" id="{2F46EE43-2001-ED86-31F5-3309996B4620}"/>
                  </a:ext>
                </a:extLst>
              </p:cNvPr>
              <p:cNvSpPr>
                <a:spLocks noGrp="1" noRot="1" noChangeAspect="1" noMove="1" noResize="1" noEditPoints="1" noAdjustHandles="1" noChangeArrowheads="1" noChangeShapeType="1" noTextEdit="1"/>
              </p:cNvSpPr>
              <p:nvPr>
                <p:ph idx="1"/>
              </p:nvPr>
            </p:nvSpPr>
            <p:spPr>
              <a:xfrm>
                <a:off x="700634" y="2310701"/>
                <a:ext cx="10691265" cy="3739896"/>
              </a:xfrm>
              <a:blipFill>
                <a:blip r:embed="rId2"/>
                <a:stretch>
                  <a:fillRect l="-513" t="-326" r="-399" b="-1466"/>
                </a:stretch>
              </a:blipFill>
            </p:spPr>
            <p:txBody>
              <a:bodyPr/>
              <a:lstStyle/>
              <a:p>
                <a:r>
                  <a:rPr lang="en-US">
                    <a:noFill/>
                  </a:rPr>
                  <a:t> </a:t>
                </a:r>
              </a:p>
            </p:txBody>
          </p:sp>
        </mc:Fallback>
      </mc:AlternateContent>
      <p:pic>
        <p:nvPicPr>
          <p:cNvPr id="5" name="Imagine 4" descr="O imagine care conține text, linie, Interval, captură de ecran&#10;&#10;Conținutul generat de inteligența artificială poate fi incorect.">
            <a:extLst>
              <a:ext uri="{FF2B5EF4-FFF2-40B4-BE49-F238E27FC236}">
                <a16:creationId xmlns:a16="http://schemas.microsoft.com/office/drawing/2014/main" id="{CDDBC9C3-4D71-3BCA-A683-F11EFDB26373}"/>
              </a:ext>
            </a:extLst>
          </p:cNvPr>
          <p:cNvPicPr>
            <a:picLocks noChangeAspect="1"/>
          </p:cNvPicPr>
          <p:nvPr/>
        </p:nvPicPr>
        <p:blipFill>
          <a:blip r:embed="rId3"/>
          <a:srcRect t="5409"/>
          <a:stretch>
            <a:fillRect/>
          </a:stretch>
        </p:blipFill>
        <p:spPr>
          <a:xfrm>
            <a:off x="4664431" y="1756819"/>
            <a:ext cx="7441133" cy="930345"/>
          </a:xfrm>
          <a:prstGeom prst="rect">
            <a:avLst/>
          </a:prstGeom>
        </p:spPr>
      </p:pic>
    </p:spTree>
    <p:extLst>
      <p:ext uri="{BB962C8B-B14F-4D97-AF65-F5344CB8AC3E}">
        <p14:creationId xmlns:p14="http://schemas.microsoft.com/office/powerpoint/2010/main" val="10095714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C8DD5E5-AB3D-A14C-8508-D77A2ED2494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0CCFEC3-FD55-2A0B-F703-A627763A18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u 1">
            <a:extLst>
              <a:ext uri="{FF2B5EF4-FFF2-40B4-BE49-F238E27FC236}">
                <a16:creationId xmlns:a16="http://schemas.microsoft.com/office/drawing/2014/main" id="{B10FC1E9-1ACA-BF82-A7CD-F5A12157EE67}"/>
              </a:ext>
            </a:extLst>
          </p:cNvPr>
          <p:cNvSpPr>
            <a:spLocks noGrp="1"/>
          </p:cNvSpPr>
          <p:nvPr>
            <p:ph type="title"/>
          </p:nvPr>
        </p:nvSpPr>
        <p:spPr>
          <a:xfrm>
            <a:off x="700635" y="913218"/>
            <a:ext cx="10691265" cy="1371030"/>
          </a:xfrm>
        </p:spPr>
        <p:txBody>
          <a:bodyPr>
            <a:normAutofit/>
          </a:bodyPr>
          <a:lstStyle/>
          <a:p>
            <a:r>
              <a:rPr lang="ro-RO" dirty="0">
                <a:latin typeface="Aptos" panose="020B0004020202020204" pitchFamily="34" charset="0"/>
              </a:rPr>
              <a:t>Preprocesarea Datelor</a:t>
            </a:r>
            <a:endParaRPr lang="en-US" dirty="0">
              <a:latin typeface="Aptos" panose="020B0004020202020204" pitchFamily="34" charset="0"/>
            </a:endParaRPr>
          </a:p>
        </p:txBody>
      </p:sp>
      <p:sp>
        <p:nvSpPr>
          <p:cNvPr id="3" name="Substituent conținut 2">
            <a:extLst>
              <a:ext uri="{FF2B5EF4-FFF2-40B4-BE49-F238E27FC236}">
                <a16:creationId xmlns:a16="http://schemas.microsoft.com/office/drawing/2014/main" id="{A04E51BA-CCB2-0F33-8EC3-FC98F7819134}"/>
              </a:ext>
            </a:extLst>
          </p:cNvPr>
          <p:cNvSpPr>
            <a:spLocks noGrp="1"/>
          </p:cNvSpPr>
          <p:nvPr>
            <p:ph idx="1"/>
          </p:nvPr>
        </p:nvSpPr>
        <p:spPr>
          <a:xfrm>
            <a:off x="700635" y="2221992"/>
            <a:ext cx="10691265" cy="3739896"/>
          </a:xfrm>
        </p:spPr>
        <p:txBody>
          <a:bodyPr>
            <a:normAutofit/>
          </a:bodyPr>
          <a:lstStyle/>
          <a:p>
            <a:pPr>
              <a:buFont typeface="Wingdings" panose="05000000000000000000" pitchFamily="2" charset="2"/>
              <a:buChar char="q"/>
            </a:pPr>
            <a:r>
              <a:rPr lang="ro-RO" dirty="0"/>
              <a:t> </a:t>
            </a:r>
            <a:r>
              <a:rPr lang="ro-RO" dirty="0">
                <a:latin typeface="Aptos" panose="020B0004020202020204" pitchFamily="34" charset="0"/>
              </a:rPr>
              <a:t>Ferestruirea datelor</a:t>
            </a:r>
            <a:r>
              <a:rPr lang="en-US" dirty="0">
                <a:latin typeface="Aptos" panose="020B0004020202020204" pitchFamily="34" charset="0"/>
              </a:rPr>
              <a:t>:</a:t>
            </a:r>
          </a:p>
          <a:p>
            <a:pPr lvl="1"/>
            <a:r>
              <a:rPr lang="en-US" sz="2000" dirty="0" err="1">
                <a:latin typeface="Aptos" panose="020B0004020202020204" pitchFamily="34" charset="0"/>
              </a:rPr>
              <a:t>Lungimea</a:t>
            </a:r>
            <a:r>
              <a:rPr lang="en-US" sz="2000" dirty="0">
                <a:latin typeface="Aptos" panose="020B0004020202020204" pitchFamily="34" charset="0"/>
              </a:rPr>
              <a:t> </a:t>
            </a:r>
            <a:r>
              <a:rPr lang="en-US" sz="2000" dirty="0" err="1">
                <a:latin typeface="Aptos" panose="020B0004020202020204" pitchFamily="34" charset="0"/>
              </a:rPr>
              <a:t>ferestrei</a:t>
            </a:r>
            <a:r>
              <a:rPr lang="ro-RO" sz="2000" dirty="0">
                <a:latin typeface="Aptos" panose="020B0004020202020204" pitchFamily="34" charset="0"/>
              </a:rPr>
              <a:t> utilizată pentru testarea rezultatelor a fost</a:t>
            </a:r>
            <a:r>
              <a:rPr lang="en-US" sz="2000" dirty="0">
                <a:latin typeface="Aptos" panose="020B0004020202020204" pitchFamily="34" charset="0"/>
              </a:rPr>
              <a:t> de 500 </a:t>
            </a:r>
            <a:r>
              <a:rPr lang="en-US" sz="2000" dirty="0" err="1">
                <a:latin typeface="Aptos" panose="020B0004020202020204" pitchFamily="34" charset="0"/>
              </a:rPr>
              <a:t>ms</a:t>
            </a:r>
            <a:r>
              <a:rPr lang="en-US" sz="2000" dirty="0">
                <a:latin typeface="Aptos" panose="020B0004020202020204" pitchFamily="34" charset="0"/>
              </a:rPr>
              <a:t> (256 e</a:t>
            </a:r>
            <a:r>
              <a:rPr lang="ro-RO" sz="2000" dirty="0" err="1">
                <a:latin typeface="Aptos" panose="020B0004020202020204" pitchFamily="34" charset="0"/>
              </a:rPr>
              <a:t>șantioane</a:t>
            </a:r>
            <a:r>
              <a:rPr lang="ro-RO" sz="2000" dirty="0">
                <a:latin typeface="Aptos" panose="020B0004020202020204" pitchFamily="34" charset="0"/>
              </a:rPr>
              <a:t>). Am folosit și diverse alte lungimi (125 ms, 250 ms, sau 1s). Această lungime a fost aleasă deoarece reprezintă un compromis între timpul de testare, rezoluție și timpul necesar clasificării.  </a:t>
            </a:r>
          </a:p>
          <a:p>
            <a:pPr lvl="1"/>
            <a:r>
              <a:rPr lang="ro-RO" sz="2000" dirty="0">
                <a:latin typeface="Aptos" panose="020B0004020202020204" pitchFamily="34" charset="0"/>
              </a:rPr>
              <a:t>Suprapunerea ferestrelor de 50%</a:t>
            </a:r>
          </a:p>
          <a:p>
            <a:pPr lvl="1"/>
            <a:r>
              <a:rPr lang="ro-RO" sz="2000" dirty="0">
                <a:latin typeface="Aptos" panose="020B0004020202020204" pitchFamily="34" charset="0"/>
              </a:rPr>
              <a:t>Am încercat eliminarea și etichetarea separată a ferestrelor care aveau valoarea medie a amplitudinii (MAV – </a:t>
            </a:r>
            <a:r>
              <a:rPr lang="ro-RO" sz="2000" dirty="0" err="1">
                <a:latin typeface="Aptos" panose="020B0004020202020204" pitchFamily="34" charset="0"/>
              </a:rPr>
              <a:t>Mean</a:t>
            </a:r>
            <a:r>
              <a:rPr lang="ro-RO" sz="2000" dirty="0">
                <a:latin typeface="Aptos" panose="020B0004020202020204" pitchFamily="34" charset="0"/>
              </a:rPr>
              <a:t> </a:t>
            </a:r>
            <a:r>
              <a:rPr lang="ro-RO" sz="2000" dirty="0" err="1">
                <a:latin typeface="Aptos" panose="020B0004020202020204" pitchFamily="34" charset="0"/>
              </a:rPr>
              <a:t>Amplitude</a:t>
            </a:r>
            <a:r>
              <a:rPr lang="ro-RO" sz="2000" dirty="0">
                <a:latin typeface="Aptos" panose="020B0004020202020204" pitchFamily="34" charset="0"/>
              </a:rPr>
              <a:t> </a:t>
            </a:r>
            <a:r>
              <a:rPr lang="ro-RO" sz="2000" dirty="0" err="1">
                <a:latin typeface="Aptos" panose="020B0004020202020204" pitchFamily="34" charset="0"/>
              </a:rPr>
              <a:t>Value</a:t>
            </a:r>
            <a:r>
              <a:rPr lang="ro-RO" sz="2000" dirty="0">
                <a:latin typeface="Aptos" panose="020B0004020202020204" pitchFamily="34" charset="0"/>
              </a:rPr>
              <a:t>) sub un anumit prag, dar în absența unor beneficii evidente acest pas a fost abandonat.</a:t>
            </a:r>
          </a:p>
          <a:p>
            <a:pPr lvl="1"/>
            <a:endParaRPr lang="en-US" dirty="0"/>
          </a:p>
          <a:p>
            <a:pPr marL="457200" lvl="1" indent="0">
              <a:buNone/>
            </a:pPr>
            <a:endParaRPr lang="ro-RO" dirty="0"/>
          </a:p>
          <a:p>
            <a:endParaRPr lang="en-US" dirty="0"/>
          </a:p>
        </p:txBody>
      </p:sp>
      <p:cxnSp>
        <p:nvCxnSpPr>
          <p:cNvPr id="10" name="Straight Connector 9">
            <a:extLst>
              <a:ext uri="{FF2B5EF4-FFF2-40B4-BE49-F238E27FC236}">
                <a16:creationId xmlns:a16="http://schemas.microsoft.com/office/drawing/2014/main" id="{83528119-5ED5-303E-3C0E-F35D1EF668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6046F0C-FD3F-AE90-D281-8601FC0DC76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61660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9C4CEDB-0222-FB98-B975-D81612C813C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A341563-B3BE-6B50-4E98-62311B81D2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u 1">
            <a:extLst>
              <a:ext uri="{FF2B5EF4-FFF2-40B4-BE49-F238E27FC236}">
                <a16:creationId xmlns:a16="http://schemas.microsoft.com/office/drawing/2014/main" id="{AC58A8EE-45DB-9C09-169B-DD130D52A94C}"/>
              </a:ext>
            </a:extLst>
          </p:cNvPr>
          <p:cNvSpPr>
            <a:spLocks noGrp="1"/>
          </p:cNvSpPr>
          <p:nvPr>
            <p:ph type="title"/>
          </p:nvPr>
        </p:nvSpPr>
        <p:spPr>
          <a:xfrm>
            <a:off x="700635" y="913218"/>
            <a:ext cx="10691265" cy="1371030"/>
          </a:xfrm>
        </p:spPr>
        <p:txBody>
          <a:bodyPr>
            <a:normAutofit/>
          </a:bodyPr>
          <a:lstStyle/>
          <a:p>
            <a:r>
              <a:rPr lang="ro-RO" dirty="0">
                <a:latin typeface="Aptos" panose="020B0004020202020204" pitchFamily="34" charset="0"/>
              </a:rPr>
              <a:t>Preprocesarea Datelor</a:t>
            </a:r>
            <a:endParaRPr lang="en-US" dirty="0">
              <a:latin typeface="Aptos" panose="020B0004020202020204" pitchFamily="34" charset="0"/>
            </a:endParaRPr>
          </a:p>
        </p:txBody>
      </p:sp>
      <mc:AlternateContent xmlns:mc="http://schemas.openxmlformats.org/markup-compatibility/2006" xmlns:a14="http://schemas.microsoft.com/office/drawing/2010/main">
        <mc:Choice Requires="a14">
          <p:sp>
            <p:nvSpPr>
              <p:cNvPr id="3" name="Substituent conținut 2">
                <a:extLst>
                  <a:ext uri="{FF2B5EF4-FFF2-40B4-BE49-F238E27FC236}">
                    <a16:creationId xmlns:a16="http://schemas.microsoft.com/office/drawing/2014/main" id="{676A6620-239A-BF1D-73D0-49082D3A1AE5}"/>
                  </a:ext>
                </a:extLst>
              </p:cNvPr>
              <p:cNvSpPr>
                <a:spLocks noGrp="1"/>
              </p:cNvSpPr>
              <p:nvPr>
                <p:ph idx="1"/>
              </p:nvPr>
            </p:nvSpPr>
            <p:spPr>
              <a:xfrm>
                <a:off x="700635" y="2221992"/>
                <a:ext cx="10691265" cy="3739896"/>
              </a:xfrm>
            </p:spPr>
            <p:txBody>
              <a:bodyPr>
                <a:normAutofit fontScale="85000" lnSpcReduction="20000"/>
              </a:bodyPr>
              <a:lstStyle/>
              <a:p>
                <a:pPr>
                  <a:buFont typeface="Wingdings" panose="05000000000000000000" pitchFamily="2" charset="2"/>
                  <a:buChar char="q"/>
                </a:pPr>
                <a:r>
                  <a:rPr lang="ro-RO" sz="2200" dirty="0">
                    <a:latin typeface="Aptos" panose="020B0004020202020204" pitchFamily="34" charset="0"/>
                  </a:rPr>
                  <a:t> Extragerea Trăsăturilor</a:t>
                </a:r>
                <a:r>
                  <a:rPr lang="en-US" sz="2200" dirty="0">
                    <a:latin typeface="Aptos" panose="020B0004020202020204" pitchFamily="34" charset="0"/>
                  </a:rPr>
                  <a:t>:</a:t>
                </a:r>
              </a:p>
              <a:p>
                <a:pPr lvl="1"/>
                <a:r>
                  <a:rPr lang="ro-RO" sz="2200" dirty="0">
                    <a:latin typeface="Aptos" panose="020B0004020202020204" pitchFamily="34" charset="0"/>
                  </a:rPr>
                  <a:t>Deoarece am ales aplicația de recunoaștere a mișcărilor trăsăturilor alese au fost cele temporale bazate pe valorile de amplitudine pre care le are semnalul în timp. </a:t>
                </a:r>
              </a:p>
              <a:p>
                <a:pPr lvl="1"/>
                <a:r>
                  <a:rPr lang="ro-RO" sz="2200" dirty="0">
                    <a:latin typeface="Aptos" panose="020B0004020202020204" pitchFamily="34" charset="0"/>
                  </a:rPr>
                  <a:t>Setul de trăsături extrase din fiecare dintre ferestre a fost</a:t>
                </a:r>
                <a:r>
                  <a:rPr lang="en-US" sz="2200" dirty="0">
                    <a:latin typeface="Aptos" panose="020B0004020202020204" pitchFamily="34" charset="0"/>
                  </a:rPr>
                  <a:t>: </a:t>
                </a:r>
              </a:p>
              <a:p>
                <a:pPr lvl="2"/>
                <a:r>
                  <a:rPr lang="en-US" sz="2200" dirty="0">
                    <a:latin typeface="Aptos" panose="020B0004020202020204" pitchFamily="34" charset="0"/>
                  </a:rPr>
                  <a:t>MAV (Mean Amplitude Value)</a:t>
                </a:r>
              </a:p>
              <a:p>
                <a:pPr lvl="2"/>
                <a:r>
                  <a:rPr lang="en-US" sz="2200" dirty="0">
                    <a:latin typeface="Aptos" panose="020B0004020202020204" pitchFamily="34" charset="0"/>
                  </a:rPr>
                  <a:t>RMS (Root Mean Square)</a:t>
                </a:r>
              </a:p>
              <a:p>
                <a:pPr lvl="2"/>
                <a:r>
                  <a:rPr lang="en-US" sz="2200" dirty="0">
                    <a:latin typeface="Aptos" panose="020B0004020202020204" pitchFamily="34" charset="0"/>
                  </a:rPr>
                  <a:t>ZCR (Zero Crossing Rate)</a:t>
                </a:r>
              </a:p>
              <a:p>
                <a:pPr lvl="2"/>
                <a:r>
                  <a:rPr lang="en-US" sz="2200" dirty="0">
                    <a:latin typeface="Aptos" panose="020B0004020202020204" pitchFamily="34" charset="0"/>
                  </a:rPr>
                  <a:t>SSC (Slope Sign Change)</a:t>
                </a:r>
              </a:p>
              <a:p>
                <a:pPr lvl="2"/>
                <a:r>
                  <a:rPr lang="en-US" sz="2200" dirty="0">
                    <a:latin typeface="Aptos" panose="020B0004020202020204" pitchFamily="34" charset="0"/>
                  </a:rPr>
                  <a:t>WL (Waveform Length)</a:t>
                </a:r>
              </a:p>
              <a:p>
                <a:pPr lvl="1"/>
                <a:r>
                  <a:rPr lang="en-US" sz="2200" dirty="0" err="1">
                    <a:latin typeface="Aptos" panose="020B0004020202020204" pitchFamily="34" charset="0"/>
                  </a:rPr>
                  <a:t>Fiecare</a:t>
                </a:r>
                <a:r>
                  <a:rPr lang="en-US" sz="2200" dirty="0">
                    <a:latin typeface="Aptos" panose="020B0004020202020204" pitchFamily="34" charset="0"/>
                  </a:rPr>
                  <a:t> </a:t>
                </a:r>
                <a:r>
                  <a:rPr lang="en-US" sz="2200" dirty="0" err="1">
                    <a:latin typeface="Aptos" panose="020B0004020202020204" pitchFamily="34" charset="0"/>
                  </a:rPr>
                  <a:t>dintre</a:t>
                </a:r>
                <a:r>
                  <a:rPr lang="en-US" sz="2200" dirty="0">
                    <a:latin typeface="Aptos" panose="020B0004020202020204" pitchFamily="34" charset="0"/>
                  </a:rPr>
                  <a:t> </a:t>
                </a:r>
                <a:r>
                  <a:rPr lang="en-US" sz="2200" dirty="0" err="1">
                    <a:latin typeface="Aptos" panose="020B0004020202020204" pitchFamily="34" charset="0"/>
                  </a:rPr>
                  <a:t>canale</a:t>
                </a:r>
                <a:r>
                  <a:rPr lang="en-US" sz="2200" dirty="0">
                    <a:latin typeface="Aptos" panose="020B0004020202020204" pitchFamily="34" charset="0"/>
                  </a:rPr>
                  <a:t> a </a:t>
                </a:r>
                <a:r>
                  <a:rPr lang="en-US" sz="2200" dirty="0" err="1">
                    <a:latin typeface="Aptos" panose="020B0004020202020204" pitchFamily="34" charset="0"/>
                  </a:rPr>
                  <a:t>fost</a:t>
                </a:r>
                <a:r>
                  <a:rPr lang="en-US" sz="2200" dirty="0">
                    <a:latin typeface="Aptos" panose="020B0004020202020204" pitchFamily="34" charset="0"/>
                  </a:rPr>
                  <a:t> </a:t>
                </a:r>
                <a:r>
                  <a:rPr lang="en-US" sz="2200" dirty="0" err="1">
                    <a:latin typeface="Aptos" panose="020B0004020202020204" pitchFamily="34" charset="0"/>
                  </a:rPr>
                  <a:t>procesat</a:t>
                </a:r>
                <a:r>
                  <a:rPr lang="en-US" sz="2200" dirty="0">
                    <a:latin typeface="Aptos" panose="020B0004020202020204" pitchFamily="34" charset="0"/>
                  </a:rPr>
                  <a:t> individual, </a:t>
                </a:r>
                <a:r>
                  <a:rPr lang="en-US" sz="2200" dirty="0" err="1">
                    <a:latin typeface="Aptos" panose="020B0004020202020204" pitchFamily="34" charset="0"/>
                  </a:rPr>
                  <a:t>rezult</a:t>
                </a:r>
                <a:r>
                  <a:rPr lang="ro-RO" sz="2200" dirty="0" err="1">
                    <a:latin typeface="Aptos" panose="020B0004020202020204" pitchFamily="34" charset="0"/>
                  </a:rPr>
                  <a:t>ând</a:t>
                </a:r>
                <a:r>
                  <a:rPr lang="ro-RO" sz="2200" dirty="0">
                    <a:latin typeface="Aptos" panose="020B0004020202020204" pitchFamily="34" charset="0"/>
                  </a:rPr>
                  <a:t> un vector de </a:t>
                </a:r>
                <a14:m>
                  <m:oMath xmlns:m="http://schemas.openxmlformats.org/officeDocument/2006/math">
                    <m:r>
                      <a:rPr lang="ro-RO" sz="2200" b="0" i="1" smtClean="0">
                        <a:latin typeface="Cambria Math" panose="02040503050406030204" pitchFamily="18" charset="0"/>
                      </a:rPr>
                      <m:t>8 </m:t>
                    </m:r>
                    <m:r>
                      <a:rPr lang="ro-RO" sz="2200" b="0" i="1" smtClean="0">
                        <a:latin typeface="Cambria Math" panose="02040503050406030204" pitchFamily="18" charset="0"/>
                        <a:ea typeface="Cambria Math" panose="02040503050406030204" pitchFamily="18" charset="0"/>
                      </a:rPr>
                      <m:t>∙5=40</m:t>
                    </m:r>
                  </m:oMath>
                </a14:m>
                <a:r>
                  <a:rPr lang="ro-RO" sz="2200" dirty="0">
                    <a:latin typeface="Aptos" panose="020B0004020202020204" pitchFamily="34" charset="0"/>
                  </a:rPr>
                  <a:t> trăsături pentru fiecare fereastră. Funcția extractArmFeatures_v2 mediază valorile de pe fiecare canal, dar are performanțe mult mai slabe </a:t>
                </a:r>
              </a:p>
              <a:p>
                <a:endParaRPr lang="en-US" dirty="0"/>
              </a:p>
            </p:txBody>
          </p:sp>
        </mc:Choice>
        <mc:Fallback xmlns="">
          <p:sp>
            <p:nvSpPr>
              <p:cNvPr id="3" name="Substituent conținut 2">
                <a:extLst>
                  <a:ext uri="{FF2B5EF4-FFF2-40B4-BE49-F238E27FC236}">
                    <a16:creationId xmlns:a16="http://schemas.microsoft.com/office/drawing/2014/main" id="{676A6620-239A-BF1D-73D0-49082D3A1AE5}"/>
                  </a:ext>
                </a:extLst>
              </p:cNvPr>
              <p:cNvSpPr>
                <a:spLocks noGrp="1" noRot="1" noChangeAspect="1" noMove="1" noResize="1" noEditPoints="1" noAdjustHandles="1" noChangeArrowheads="1" noChangeShapeType="1" noTextEdit="1"/>
              </p:cNvSpPr>
              <p:nvPr>
                <p:ph idx="1"/>
              </p:nvPr>
            </p:nvSpPr>
            <p:spPr>
              <a:xfrm>
                <a:off x="700635" y="2221992"/>
                <a:ext cx="10691265" cy="3739896"/>
              </a:xfrm>
              <a:blipFill>
                <a:blip r:embed="rId2"/>
                <a:stretch>
                  <a:fillRect l="-456" t="-1631" b="-2447"/>
                </a:stretch>
              </a:blipFill>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66CA2DA2-DB1C-8C55-30D9-8C067A4B75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D36B81D-D54B-914B-342D-BEBCF00BFC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9916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A6B8483-FC89-ACAB-92B3-EC1B9D4F355F}"/>
            </a:ext>
          </a:extLst>
        </p:cNvPr>
        <p:cNvGrpSpPr/>
        <p:nvPr/>
      </p:nvGrpSpPr>
      <p:grpSpPr>
        <a:xfrm>
          <a:off x="0" y="0"/>
          <a:ext cx="0" cy="0"/>
          <a:chOff x="0" y="0"/>
          <a:chExt cx="0" cy="0"/>
        </a:xfrm>
      </p:grpSpPr>
      <p:sp useBgFill="1">
        <p:nvSpPr>
          <p:cNvPr id="23" name="Rectangle 16">
            <a:extLst>
              <a:ext uri="{FF2B5EF4-FFF2-40B4-BE49-F238E27FC236}">
                <a16:creationId xmlns:a16="http://schemas.microsoft.com/office/drawing/2014/main" id="{5F710FDB-0919-493E-8539-8240C23F1E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cxnSp>
        <p:nvCxnSpPr>
          <p:cNvPr id="24" name="Straight Connector 18">
            <a:extLst>
              <a:ext uri="{FF2B5EF4-FFF2-40B4-BE49-F238E27FC236}">
                <a16:creationId xmlns:a16="http://schemas.microsoft.com/office/drawing/2014/main" id="{22F20000-FD86-48F6-9363-FEC90C932DC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0">
            <a:extLst>
              <a:ext uri="{FF2B5EF4-FFF2-40B4-BE49-F238E27FC236}">
                <a16:creationId xmlns:a16="http://schemas.microsoft.com/office/drawing/2014/main" id="{872AE332-6ACA-45BE-875F-91A291D4A4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u 1">
            <a:extLst>
              <a:ext uri="{FF2B5EF4-FFF2-40B4-BE49-F238E27FC236}">
                <a16:creationId xmlns:a16="http://schemas.microsoft.com/office/drawing/2014/main" id="{A204EBCC-83DD-4613-C021-0834378D3140}"/>
              </a:ext>
            </a:extLst>
          </p:cNvPr>
          <p:cNvSpPr>
            <a:spLocks noGrp="1"/>
          </p:cNvSpPr>
          <p:nvPr>
            <p:ph type="title"/>
          </p:nvPr>
        </p:nvSpPr>
        <p:spPr>
          <a:xfrm>
            <a:off x="702129" y="914760"/>
            <a:ext cx="3678485" cy="3543764"/>
          </a:xfrm>
        </p:spPr>
        <p:txBody>
          <a:bodyPr>
            <a:normAutofit/>
          </a:bodyPr>
          <a:lstStyle/>
          <a:p>
            <a:r>
              <a:rPr lang="ro-RO" sz="3400">
                <a:latin typeface="Aptos" panose="020B0004020202020204" pitchFamily="34" charset="0"/>
              </a:rPr>
              <a:t>Preprocesarea Datelor</a:t>
            </a:r>
            <a:endParaRPr lang="en-US" sz="3400">
              <a:latin typeface="Aptos" panose="020B0004020202020204" pitchFamily="34" charset="0"/>
            </a:endParaRPr>
          </a:p>
        </p:txBody>
      </p:sp>
      <p:sp>
        <p:nvSpPr>
          <p:cNvPr id="3" name="Substituent conținut 2">
            <a:extLst>
              <a:ext uri="{FF2B5EF4-FFF2-40B4-BE49-F238E27FC236}">
                <a16:creationId xmlns:a16="http://schemas.microsoft.com/office/drawing/2014/main" id="{9F5A95C6-D3A3-5A6E-FB0F-84AFBE13571A}"/>
              </a:ext>
            </a:extLst>
          </p:cNvPr>
          <p:cNvSpPr>
            <a:spLocks noGrp="1"/>
          </p:cNvSpPr>
          <p:nvPr>
            <p:ph idx="1"/>
          </p:nvPr>
        </p:nvSpPr>
        <p:spPr>
          <a:xfrm>
            <a:off x="4773168" y="993228"/>
            <a:ext cx="6720840" cy="4935981"/>
          </a:xfrm>
        </p:spPr>
        <p:txBody>
          <a:bodyPr>
            <a:normAutofit/>
          </a:bodyPr>
          <a:lstStyle/>
          <a:p>
            <a:pPr>
              <a:buFont typeface="Wingdings" panose="05000000000000000000" pitchFamily="2" charset="2"/>
              <a:buChar char="q"/>
            </a:pPr>
            <a:r>
              <a:rPr lang="ro-RO"/>
              <a:t> Împărțirea Setului de Date</a:t>
            </a:r>
            <a:endParaRPr lang="en-US"/>
          </a:p>
          <a:p>
            <a:pPr lvl="1"/>
            <a:r>
              <a:rPr lang="ro-RO"/>
              <a:t>Setul de date a fost împărțit în 3 seturi separate pentru antrenare (70 de subiecți), validare (15 subiecți) și testare (16 subiecți). </a:t>
            </a:r>
          </a:p>
          <a:p>
            <a:pPr marL="0" indent="0">
              <a:buNone/>
            </a:pPr>
            <a:endParaRPr lang="en-US" dirty="0"/>
          </a:p>
        </p:txBody>
      </p:sp>
      <p:pic>
        <p:nvPicPr>
          <p:cNvPr id="26" name="Imagine 25" descr="O imagine care conține text, captură de ecran, Font, scris de mână&#10;&#10;Conținutul generat de inteligența artificială poate fi incorect.">
            <a:extLst>
              <a:ext uri="{FF2B5EF4-FFF2-40B4-BE49-F238E27FC236}">
                <a16:creationId xmlns:a16="http://schemas.microsoft.com/office/drawing/2014/main" id="{32E9191B-11D8-7920-2A65-DBEBB3320113}"/>
              </a:ext>
            </a:extLst>
          </p:cNvPr>
          <p:cNvPicPr>
            <a:picLocks noChangeAspect="1"/>
          </p:cNvPicPr>
          <p:nvPr/>
        </p:nvPicPr>
        <p:blipFill>
          <a:blip r:embed="rId2"/>
          <a:stretch>
            <a:fillRect/>
          </a:stretch>
        </p:blipFill>
        <p:spPr>
          <a:xfrm>
            <a:off x="1107916" y="2274577"/>
            <a:ext cx="3586265" cy="3868204"/>
          </a:xfrm>
          <a:prstGeom prst="rect">
            <a:avLst/>
          </a:prstGeom>
        </p:spPr>
      </p:pic>
      <p:cxnSp>
        <p:nvCxnSpPr>
          <p:cNvPr id="20" name="Conector drept cu săgeată 19">
            <a:extLst>
              <a:ext uri="{FF2B5EF4-FFF2-40B4-BE49-F238E27FC236}">
                <a16:creationId xmlns:a16="http://schemas.microsoft.com/office/drawing/2014/main" id="{36864E59-06C5-3F2E-B8CF-8AEA818B451B}"/>
              </a:ext>
            </a:extLst>
          </p:cNvPr>
          <p:cNvCxnSpPr>
            <a:cxnSpLocks/>
          </p:cNvCxnSpPr>
          <p:nvPr/>
        </p:nvCxnSpPr>
        <p:spPr>
          <a:xfrm>
            <a:off x="1835624" y="4032362"/>
            <a:ext cx="387096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8" name="Conector drept 27">
            <a:extLst>
              <a:ext uri="{FF2B5EF4-FFF2-40B4-BE49-F238E27FC236}">
                <a16:creationId xmlns:a16="http://schemas.microsoft.com/office/drawing/2014/main" id="{B2B28C4E-3F4E-419D-64B3-A2D99C14C325}"/>
              </a:ext>
            </a:extLst>
          </p:cNvPr>
          <p:cNvCxnSpPr/>
          <p:nvPr/>
        </p:nvCxnSpPr>
        <p:spPr>
          <a:xfrm>
            <a:off x="1301182" y="2355850"/>
            <a:ext cx="0" cy="36830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9" name="Conector drept 28">
            <a:extLst>
              <a:ext uri="{FF2B5EF4-FFF2-40B4-BE49-F238E27FC236}">
                <a16:creationId xmlns:a16="http://schemas.microsoft.com/office/drawing/2014/main" id="{2ECDD96B-B803-174B-16A5-0A08BD7865DC}"/>
              </a:ext>
            </a:extLst>
          </p:cNvPr>
          <p:cNvCxnSpPr/>
          <p:nvPr/>
        </p:nvCxnSpPr>
        <p:spPr>
          <a:xfrm>
            <a:off x="2216889" y="2355850"/>
            <a:ext cx="0" cy="3683000"/>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30" name="Tabel 29">
                <a:extLst>
                  <a:ext uri="{FF2B5EF4-FFF2-40B4-BE49-F238E27FC236}">
                    <a16:creationId xmlns:a16="http://schemas.microsoft.com/office/drawing/2014/main" id="{AD229935-B415-81CF-3DB6-C9451DEE91BF}"/>
                  </a:ext>
                </a:extLst>
              </p:cNvPr>
              <p:cNvGraphicFramePr>
                <a:graphicFrameLocks noGrp="1"/>
              </p:cNvGraphicFramePr>
              <p:nvPr>
                <p:extLst>
                  <p:ext uri="{D42A27DB-BD31-4B8C-83A1-F6EECF244321}">
                    <p14:modId xmlns:p14="http://schemas.microsoft.com/office/powerpoint/2010/main" val="3987532188"/>
                  </p:ext>
                </p:extLst>
              </p:nvPr>
            </p:nvGraphicFramePr>
            <p:xfrm>
              <a:off x="5817080" y="3842919"/>
              <a:ext cx="6069681" cy="365760"/>
            </p:xfrm>
            <a:graphic>
              <a:graphicData uri="http://schemas.openxmlformats.org/drawingml/2006/table">
                <a:tbl>
                  <a:tblPr firstRow="1" bandRow="1">
                    <a:tableStyleId>{5940675A-B579-460E-94D1-54222C63F5DA}</a:tableStyleId>
                  </a:tblPr>
                  <a:tblGrid>
                    <a:gridCol w="674409">
                      <a:extLst>
                        <a:ext uri="{9D8B030D-6E8A-4147-A177-3AD203B41FA5}">
                          <a16:colId xmlns:a16="http://schemas.microsoft.com/office/drawing/2014/main" val="4225429915"/>
                        </a:ext>
                      </a:extLst>
                    </a:gridCol>
                    <a:gridCol w="674409">
                      <a:extLst>
                        <a:ext uri="{9D8B030D-6E8A-4147-A177-3AD203B41FA5}">
                          <a16:colId xmlns:a16="http://schemas.microsoft.com/office/drawing/2014/main" val="1193120078"/>
                        </a:ext>
                      </a:extLst>
                    </a:gridCol>
                    <a:gridCol w="674409">
                      <a:extLst>
                        <a:ext uri="{9D8B030D-6E8A-4147-A177-3AD203B41FA5}">
                          <a16:colId xmlns:a16="http://schemas.microsoft.com/office/drawing/2014/main" val="3251909474"/>
                        </a:ext>
                      </a:extLst>
                    </a:gridCol>
                    <a:gridCol w="674409">
                      <a:extLst>
                        <a:ext uri="{9D8B030D-6E8A-4147-A177-3AD203B41FA5}">
                          <a16:colId xmlns:a16="http://schemas.microsoft.com/office/drawing/2014/main" val="3114417269"/>
                        </a:ext>
                      </a:extLst>
                    </a:gridCol>
                    <a:gridCol w="674409">
                      <a:extLst>
                        <a:ext uri="{9D8B030D-6E8A-4147-A177-3AD203B41FA5}">
                          <a16:colId xmlns:a16="http://schemas.microsoft.com/office/drawing/2014/main" val="714457280"/>
                        </a:ext>
                      </a:extLst>
                    </a:gridCol>
                    <a:gridCol w="674409">
                      <a:extLst>
                        <a:ext uri="{9D8B030D-6E8A-4147-A177-3AD203B41FA5}">
                          <a16:colId xmlns:a16="http://schemas.microsoft.com/office/drawing/2014/main" val="2190077603"/>
                        </a:ext>
                      </a:extLst>
                    </a:gridCol>
                    <a:gridCol w="674409">
                      <a:extLst>
                        <a:ext uri="{9D8B030D-6E8A-4147-A177-3AD203B41FA5}">
                          <a16:colId xmlns:a16="http://schemas.microsoft.com/office/drawing/2014/main" val="3846870541"/>
                        </a:ext>
                      </a:extLst>
                    </a:gridCol>
                    <a:gridCol w="674409">
                      <a:extLst>
                        <a:ext uri="{9D8B030D-6E8A-4147-A177-3AD203B41FA5}">
                          <a16:colId xmlns:a16="http://schemas.microsoft.com/office/drawing/2014/main" val="1400429215"/>
                        </a:ext>
                      </a:extLst>
                    </a:gridCol>
                    <a:gridCol w="674409">
                      <a:extLst>
                        <a:ext uri="{9D8B030D-6E8A-4147-A177-3AD203B41FA5}">
                          <a16:colId xmlns:a16="http://schemas.microsoft.com/office/drawing/2014/main" val="3613498164"/>
                        </a:ext>
                      </a:extLst>
                    </a:gridCol>
                  </a:tblGrid>
                  <a:tr h="292839">
                    <a:tc>
                      <a:txBody>
                        <a:bodyPr/>
                        <a:lstStyle/>
                        <a:p>
                          <a:pPr algn="ctr"/>
                          <a14:m>
                            <m:oMathPara xmlns:m="http://schemas.openxmlformats.org/officeDocument/2006/math">
                              <m:oMathParaPr>
                                <m:jc m:val="centerGroup"/>
                              </m:oMathParaPr>
                              <m:oMath xmlns:m="http://schemas.openxmlformats.org/officeDocument/2006/math">
                                <m:sSub>
                                  <m:sSubPr>
                                    <m:ctrlPr>
                                      <a:rPr lang="ro-RO" sz="1800" i="1" dirty="0" smtClean="0">
                                        <a:latin typeface="Cambria Math" panose="02040503050406030204" pitchFamily="18" charset="0"/>
                                      </a:rPr>
                                    </m:ctrlPr>
                                  </m:sSubPr>
                                  <m:e>
                                    <m:r>
                                      <a:rPr lang="ro-RO" sz="1800" b="0" i="1" dirty="0" smtClean="0">
                                        <a:latin typeface="Cambria Math" panose="02040503050406030204" pitchFamily="18" charset="0"/>
                                      </a:rPr>
                                      <m:t>𝑅𝑀𝑆</m:t>
                                    </m:r>
                                  </m:e>
                                  <m:sub>
                                    <m:r>
                                      <a:rPr lang="ro-RO" sz="1800" b="0" i="1" dirty="0" smtClean="0">
                                        <a:latin typeface="Cambria Math" panose="02040503050406030204" pitchFamily="18" charset="0"/>
                                      </a:rPr>
                                      <m:t>1</m:t>
                                    </m:r>
                                  </m:sub>
                                </m:sSub>
                              </m:oMath>
                            </m:oMathPara>
                          </a14:m>
                          <a:endParaRPr/>
                        </a:p>
                      </a:txBody>
                      <a:tcPr/>
                    </a:tc>
                    <a:tc>
                      <a:txBody>
                        <a:bodyPr/>
                        <a:lstStyle/>
                        <a:p>
                          <a:pPr algn="ctr"/>
                          <a:r>
                            <a:rPr lang="ro-RO" sz="1800" dirty="0"/>
                            <a:t>...</a:t>
                          </a:r>
                          <a:endParaRPr lang="en-US" sz="18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ro-RO" sz="1800" i="1" dirty="0" smtClean="0">
                                        <a:latin typeface="Cambria Math" panose="02040503050406030204" pitchFamily="18" charset="0"/>
                                      </a:rPr>
                                    </m:ctrlPr>
                                  </m:sSubPr>
                                  <m:e>
                                    <m:r>
                                      <a:rPr lang="ro-RO" sz="1800" b="0" i="1" dirty="0" smtClean="0">
                                        <a:latin typeface="Cambria Math" panose="02040503050406030204" pitchFamily="18" charset="0"/>
                                      </a:rPr>
                                      <m:t>𝑀𝐴𝑉</m:t>
                                    </m:r>
                                  </m:e>
                                  <m:sub>
                                    <m:r>
                                      <a:rPr lang="ro-RO" sz="1800" b="0" i="1" dirty="0" smtClean="0">
                                        <a:latin typeface="Cambria Math" panose="02040503050406030204" pitchFamily="18" charset="0"/>
                                      </a:rPr>
                                      <m:t>1</m:t>
                                    </m:r>
                                  </m:sub>
                                </m:sSub>
                              </m:oMath>
                            </m:oMathPara>
                          </a14:m>
                          <a:endParaRPr lang="en-US" sz="1800" dirty="0"/>
                        </a:p>
                      </a:txBody>
                      <a:tcPr/>
                    </a:tc>
                    <a:tc>
                      <a:txBody>
                        <a:bodyPr/>
                        <a:lstStyle/>
                        <a:p>
                          <a:pPr algn="ctr"/>
                          <a:r>
                            <a:rPr lang="ro-RO" sz="1800" dirty="0"/>
                            <a:t>...</a:t>
                          </a:r>
                          <a:endParaRPr lang="en-US" sz="18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ro-RO" sz="1800" i="1" dirty="0" smtClean="0">
                                        <a:latin typeface="Cambria Math" panose="02040503050406030204" pitchFamily="18" charset="0"/>
                                      </a:rPr>
                                    </m:ctrlPr>
                                  </m:sSubPr>
                                  <m:e>
                                    <m:r>
                                      <a:rPr lang="ro-RO" sz="1800" b="0" i="1" dirty="0" smtClean="0">
                                        <a:latin typeface="Cambria Math" panose="02040503050406030204" pitchFamily="18" charset="0"/>
                                      </a:rPr>
                                      <m:t>𝑍𝐶𝑅</m:t>
                                    </m:r>
                                  </m:e>
                                  <m:sub>
                                    <m:r>
                                      <a:rPr lang="ro-RO" sz="1800" b="0" i="1" dirty="0" smtClean="0">
                                        <a:latin typeface="Cambria Math" panose="02040503050406030204" pitchFamily="18" charset="0"/>
                                      </a:rPr>
                                      <m:t>1</m:t>
                                    </m:r>
                                  </m:sub>
                                </m:sSub>
                              </m:oMath>
                            </m:oMathPara>
                          </a14:m>
                          <a:endParaRPr lang="en-US" sz="1800" dirty="0"/>
                        </a:p>
                      </a:txBody>
                      <a:tcPr/>
                    </a:tc>
                    <a:tc>
                      <a:txBody>
                        <a:bodyPr/>
                        <a:lstStyle/>
                        <a:p>
                          <a:pPr algn="ctr"/>
                          <a:r>
                            <a:rPr lang="ro-RO" sz="1800" dirty="0"/>
                            <a:t> ...</a:t>
                          </a:r>
                          <a:endParaRPr lang="en-US" sz="18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ro-RO" sz="1800" i="1" dirty="0" smtClean="0">
                                        <a:latin typeface="Cambria Math" panose="02040503050406030204" pitchFamily="18" charset="0"/>
                                      </a:rPr>
                                    </m:ctrlPr>
                                  </m:sSubPr>
                                  <m:e>
                                    <m:r>
                                      <a:rPr lang="ro-RO" sz="1800" b="0" i="1" dirty="0" smtClean="0">
                                        <a:latin typeface="Cambria Math" panose="02040503050406030204" pitchFamily="18" charset="0"/>
                                      </a:rPr>
                                      <m:t>𝑆𝑆𝐶</m:t>
                                    </m:r>
                                  </m:e>
                                  <m:sub>
                                    <m:r>
                                      <a:rPr lang="ro-RO" sz="1800" b="0" i="1" dirty="0" smtClean="0">
                                        <a:latin typeface="Cambria Math" panose="02040503050406030204" pitchFamily="18" charset="0"/>
                                      </a:rPr>
                                      <m:t>1</m:t>
                                    </m:r>
                                  </m:sub>
                                </m:sSub>
                              </m:oMath>
                            </m:oMathPara>
                          </a14:m>
                          <a:endParaRPr lang="en-US" sz="1800" dirty="0"/>
                        </a:p>
                      </a:txBody>
                      <a:tcPr/>
                    </a:tc>
                    <a:tc>
                      <a:txBody>
                        <a:bodyPr/>
                        <a:lstStyle/>
                        <a:p>
                          <a:pPr algn="ctr"/>
                          <a:r>
                            <a:rPr lang="ro-RO" sz="1800" dirty="0"/>
                            <a:t>...</a:t>
                          </a:r>
                          <a:endParaRPr lang="en-US" sz="18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ro-RO" sz="1800" i="1" dirty="0" smtClean="0">
                                        <a:latin typeface="Cambria Math" panose="02040503050406030204" pitchFamily="18" charset="0"/>
                                      </a:rPr>
                                    </m:ctrlPr>
                                  </m:sSubPr>
                                  <m:e>
                                    <m:r>
                                      <a:rPr lang="ro-RO" sz="1800" b="0" i="1" dirty="0" smtClean="0">
                                        <a:latin typeface="Cambria Math" panose="02040503050406030204" pitchFamily="18" charset="0"/>
                                      </a:rPr>
                                      <m:t>𝑊𝐿</m:t>
                                    </m:r>
                                  </m:e>
                                  <m:sub>
                                    <m:r>
                                      <a:rPr lang="ro-RO" sz="1800" b="0" i="1" dirty="0" smtClean="0">
                                        <a:latin typeface="Cambria Math" panose="02040503050406030204" pitchFamily="18" charset="0"/>
                                      </a:rPr>
                                      <m:t>1</m:t>
                                    </m:r>
                                  </m:sub>
                                </m:sSub>
                              </m:oMath>
                            </m:oMathPara>
                          </a14:m>
                          <a:endParaRPr lang="en-US" sz="1800" dirty="0"/>
                        </a:p>
                      </a:txBody>
                      <a:tcPr/>
                    </a:tc>
                    <a:extLst>
                      <a:ext uri="{0D108BD9-81ED-4DB2-BD59-A6C34878D82A}">
                        <a16:rowId xmlns:a16="http://schemas.microsoft.com/office/drawing/2014/main" val="3647908643"/>
                      </a:ext>
                    </a:extLst>
                  </a:tr>
                </a:tbl>
              </a:graphicData>
            </a:graphic>
          </p:graphicFrame>
        </mc:Choice>
        <mc:Fallback xmlns="">
          <p:graphicFrame>
            <p:nvGraphicFramePr>
              <p:cNvPr id="30" name="Tabel 29">
                <a:extLst>
                  <a:ext uri="{FF2B5EF4-FFF2-40B4-BE49-F238E27FC236}">
                    <a16:creationId xmlns:a16="http://schemas.microsoft.com/office/drawing/2014/main" id="{AD229935-B415-81CF-3DB6-C9451DEE91BF}"/>
                  </a:ext>
                </a:extLst>
              </p:cNvPr>
              <p:cNvGraphicFramePr>
                <a:graphicFrameLocks noGrp="1"/>
              </p:cNvGraphicFramePr>
              <p:nvPr>
                <p:extLst>
                  <p:ext uri="{D42A27DB-BD31-4B8C-83A1-F6EECF244321}">
                    <p14:modId xmlns:p14="http://schemas.microsoft.com/office/powerpoint/2010/main" val="3987532188"/>
                  </p:ext>
                </p:extLst>
              </p:nvPr>
            </p:nvGraphicFramePr>
            <p:xfrm>
              <a:off x="5817080" y="3842919"/>
              <a:ext cx="6069681" cy="365760"/>
            </p:xfrm>
            <a:graphic>
              <a:graphicData uri="http://schemas.openxmlformats.org/drawingml/2006/table">
                <a:tbl>
                  <a:tblPr firstRow="1" bandRow="1">
                    <a:tableStyleId>{5940675A-B579-460E-94D1-54222C63F5DA}</a:tableStyleId>
                  </a:tblPr>
                  <a:tblGrid>
                    <a:gridCol w="674409">
                      <a:extLst>
                        <a:ext uri="{9D8B030D-6E8A-4147-A177-3AD203B41FA5}">
                          <a16:colId xmlns:a16="http://schemas.microsoft.com/office/drawing/2014/main" val="4225429915"/>
                        </a:ext>
                      </a:extLst>
                    </a:gridCol>
                    <a:gridCol w="674409">
                      <a:extLst>
                        <a:ext uri="{9D8B030D-6E8A-4147-A177-3AD203B41FA5}">
                          <a16:colId xmlns:a16="http://schemas.microsoft.com/office/drawing/2014/main" val="1193120078"/>
                        </a:ext>
                      </a:extLst>
                    </a:gridCol>
                    <a:gridCol w="674409">
                      <a:extLst>
                        <a:ext uri="{9D8B030D-6E8A-4147-A177-3AD203B41FA5}">
                          <a16:colId xmlns:a16="http://schemas.microsoft.com/office/drawing/2014/main" val="3251909474"/>
                        </a:ext>
                      </a:extLst>
                    </a:gridCol>
                    <a:gridCol w="674409">
                      <a:extLst>
                        <a:ext uri="{9D8B030D-6E8A-4147-A177-3AD203B41FA5}">
                          <a16:colId xmlns:a16="http://schemas.microsoft.com/office/drawing/2014/main" val="3114417269"/>
                        </a:ext>
                      </a:extLst>
                    </a:gridCol>
                    <a:gridCol w="674409">
                      <a:extLst>
                        <a:ext uri="{9D8B030D-6E8A-4147-A177-3AD203B41FA5}">
                          <a16:colId xmlns:a16="http://schemas.microsoft.com/office/drawing/2014/main" val="714457280"/>
                        </a:ext>
                      </a:extLst>
                    </a:gridCol>
                    <a:gridCol w="674409">
                      <a:extLst>
                        <a:ext uri="{9D8B030D-6E8A-4147-A177-3AD203B41FA5}">
                          <a16:colId xmlns:a16="http://schemas.microsoft.com/office/drawing/2014/main" val="2190077603"/>
                        </a:ext>
                      </a:extLst>
                    </a:gridCol>
                    <a:gridCol w="674409">
                      <a:extLst>
                        <a:ext uri="{9D8B030D-6E8A-4147-A177-3AD203B41FA5}">
                          <a16:colId xmlns:a16="http://schemas.microsoft.com/office/drawing/2014/main" val="3846870541"/>
                        </a:ext>
                      </a:extLst>
                    </a:gridCol>
                    <a:gridCol w="674409">
                      <a:extLst>
                        <a:ext uri="{9D8B030D-6E8A-4147-A177-3AD203B41FA5}">
                          <a16:colId xmlns:a16="http://schemas.microsoft.com/office/drawing/2014/main" val="1400429215"/>
                        </a:ext>
                      </a:extLst>
                    </a:gridCol>
                    <a:gridCol w="674409">
                      <a:extLst>
                        <a:ext uri="{9D8B030D-6E8A-4147-A177-3AD203B41FA5}">
                          <a16:colId xmlns:a16="http://schemas.microsoft.com/office/drawing/2014/main" val="3613498164"/>
                        </a:ext>
                      </a:extLst>
                    </a:gridCol>
                  </a:tblGrid>
                  <a:tr h="365760">
                    <a:tc>
                      <a:txBody>
                        <a:bodyPr/>
                        <a:lstStyle/>
                        <a:p>
                          <a:endParaRPr lang="en-US"/>
                        </a:p>
                      </a:txBody>
                      <a:tcPr>
                        <a:blipFill>
                          <a:blip r:embed="rId3"/>
                          <a:stretch>
                            <a:fillRect l="-901" t="-9836" r="-800000" b="-24590"/>
                          </a:stretch>
                        </a:blipFill>
                      </a:tcPr>
                    </a:tc>
                    <a:tc>
                      <a:txBody>
                        <a:bodyPr/>
                        <a:lstStyle/>
                        <a:p>
                          <a:pPr algn="ctr"/>
                          <a:r>
                            <a:rPr lang="ro-RO" sz="1800" dirty="0"/>
                            <a:t>...</a:t>
                          </a:r>
                          <a:endParaRPr lang="en-US" sz="1800" dirty="0"/>
                        </a:p>
                      </a:txBody>
                      <a:tcPr/>
                    </a:tc>
                    <a:tc>
                      <a:txBody>
                        <a:bodyPr/>
                        <a:lstStyle/>
                        <a:p>
                          <a:endParaRPr lang="en-US"/>
                        </a:p>
                      </a:txBody>
                      <a:tcPr>
                        <a:blipFill>
                          <a:blip r:embed="rId3"/>
                          <a:stretch>
                            <a:fillRect l="-200000" t="-9836" r="-600901" b="-24590"/>
                          </a:stretch>
                        </a:blipFill>
                      </a:tcPr>
                    </a:tc>
                    <a:tc>
                      <a:txBody>
                        <a:bodyPr/>
                        <a:lstStyle/>
                        <a:p>
                          <a:pPr algn="ctr"/>
                          <a:r>
                            <a:rPr lang="ro-RO" sz="1800" dirty="0"/>
                            <a:t>...</a:t>
                          </a:r>
                          <a:endParaRPr lang="en-US" sz="1800" dirty="0"/>
                        </a:p>
                      </a:txBody>
                      <a:tcPr/>
                    </a:tc>
                    <a:tc>
                      <a:txBody>
                        <a:bodyPr/>
                        <a:lstStyle/>
                        <a:p>
                          <a:endParaRPr lang="en-US"/>
                        </a:p>
                      </a:txBody>
                      <a:tcPr>
                        <a:blipFill>
                          <a:blip r:embed="rId3"/>
                          <a:stretch>
                            <a:fillRect l="-403636" t="-9836" r="-405455" b="-24590"/>
                          </a:stretch>
                        </a:blipFill>
                      </a:tcPr>
                    </a:tc>
                    <a:tc>
                      <a:txBody>
                        <a:bodyPr/>
                        <a:lstStyle/>
                        <a:p>
                          <a:pPr algn="ctr"/>
                          <a:r>
                            <a:rPr lang="ro-RO" sz="1800" dirty="0"/>
                            <a:t> ...</a:t>
                          </a:r>
                          <a:endParaRPr lang="en-US" sz="1800" dirty="0"/>
                        </a:p>
                      </a:txBody>
                      <a:tcPr/>
                    </a:tc>
                    <a:tc>
                      <a:txBody>
                        <a:bodyPr/>
                        <a:lstStyle/>
                        <a:p>
                          <a:endParaRPr lang="en-US"/>
                        </a:p>
                      </a:txBody>
                      <a:tcPr>
                        <a:blipFill>
                          <a:blip r:embed="rId3"/>
                          <a:stretch>
                            <a:fillRect l="-599099" t="-9836" r="-201802" b="-24590"/>
                          </a:stretch>
                        </a:blipFill>
                      </a:tcPr>
                    </a:tc>
                    <a:tc>
                      <a:txBody>
                        <a:bodyPr/>
                        <a:lstStyle/>
                        <a:p>
                          <a:pPr algn="ctr"/>
                          <a:r>
                            <a:rPr lang="ro-RO" sz="1800" dirty="0"/>
                            <a:t>...</a:t>
                          </a:r>
                          <a:endParaRPr lang="en-US" sz="1800" dirty="0"/>
                        </a:p>
                      </a:txBody>
                      <a:tcPr/>
                    </a:tc>
                    <a:tc>
                      <a:txBody>
                        <a:bodyPr/>
                        <a:lstStyle/>
                        <a:p>
                          <a:endParaRPr lang="en-US"/>
                        </a:p>
                      </a:txBody>
                      <a:tcPr>
                        <a:blipFill>
                          <a:blip r:embed="rId3"/>
                          <a:stretch>
                            <a:fillRect l="-798198" t="-9836" r="-2703" b="-24590"/>
                          </a:stretch>
                        </a:blipFill>
                      </a:tcPr>
                    </a:tc>
                    <a:extLst>
                      <a:ext uri="{0D108BD9-81ED-4DB2-BD59-A6C34878D82A}">
                        <a16:rowId xmlns:a16="http://schemas.microsoft.com/office/drawing/2014/main" val="3647908643"/>
                      </a:ext>
                    </a:extLst>
                  </a:tr>
                </a:tbl>
              </a:graphicData>
            </a:graphic>
          </p:graphicFrame>
        </mc:Fallback>
      </mc:AlternateContent>
    </p:spTree>
    <p:extLst>
      <p:ext uri="{BB962C8B-B14F-4D97-AF65-F5344CB8AC3E}">
        <p14:creationId xmlns:p14="http://schemas.microsoft.com/office/powerpoint/2010/main" val="15670674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923F980A-8B4E-6164-0970-CEACACF67B9B}"/>
              </a:ext>
            </a:extLst>
          </p:cNvPr>
          <p:cNvSpPr>
            <a:spLocks noGrp="1"/>
          </p:cNvSpPr>
          <p:nvPr>
            <p:ph type="title"/>
          </p:nvPr>
        </p:nvSpPr>
        <p:spPr/>
        <p:txBody>
          <a:bodyPr/>
          <a:lstStyle/>
          <a:p>
            <a:r>
              <a:rPr lang="ro-RO" dirty="0">
                <a:latin typeface="Aptos" panose="020B0004020202020204" pitchFamily="34" charset="0"/>
              </a:rPr>
              <a:t>Metode de clasificare</a:t>
            </a:r>
            <a:endParaRPr lang="en-US" dirty="0">
              <a:latin typeface="Aptos" panose="020B0004020202020204" pitchFamily="34" charset="0"/>
            </a:endParaRPr>
          </a:p>
        </p:txBody>
      </p:sp>
      <p:sp>
        <p:nvSpPr>
          <p:cNvPr id="3" name="Substituent conținut 2">
            <a:extLst>
              <a:ext uri="{FF2B5EF4-FFF2-40B4-BE49-F238E27FC236}">
                <a16:creationId xmlns:a16="http://schemas.microsoft.com/office/drawing/2014/main" id="{88AF34FC-FA85-D9B3-D7D7-A91B01C4323C}"/>
              </a:ext>
            </a:extLst>
          </p:cNvPr>
          <p:cNvSpPr>
            <a:spLocks noGrp="1"/>
          </p:cNvSpPr>
          <p:nvPr>
            <p:ph idx="1"/>
          </p:nvPr>
        </p:nvSpPr>
        <p:spPr/>
        <p:txBody>
          <a:bodyPr/>
          <a:lstStyle/>
          <a:p>
            <a:pPr>
              <a:buFont typeface="Wingdings" panose="05000000000000000000" pitchFamily="2" charset="2"/>
              <a:buChar char="q"/>
            </a:pPr>
            <a:r>
              <a:rPr lang="ro-RO" dirty="0">
                <a:latin typeface="Aptos" panose="020B0004020202020204" pitchFamily="34" charset="0"/>
              </a:rPr>
              <a:t> </a:t>
            </a:r>
            <a:r>
              <a:rPr lang="ro-RO" dirty="0" err="1">
                <a:latin typeface="Aptos" panose="020B0004020202020204" pitchFamily="34" charset="0"/>
              </a:rPr>
              <a:t>Random</a:t>
            </a:r>
            <a:r>
              <a:rPr lang="ro-RO" dirty="0">
                <a:latin typeface="Aptos" panose="020B0004020202020204" pitchFamily="34" charset="0"/>
              </a:rPr>
              <a:t> Forest</a:t>
            </a:r>
            <a:r>
              <a:rPr lang="en-US" dirty="0">
                <a:latin typeface="Aptos" panose="020B0004020202020204" pitchFamily="34" charset="0"/>
              </a:rPr>
              <a:t>:</a:t>
            </a:r>
          </a:p>
          <a:p>
            <a:pPr lvl="1"/>
            <a:r>
              <a:rPr lang="en-US" dirty="0">
                <a:latin typeface="Aptos" panose="020B0004020202020204" pitchFamily="34" charset="0"/>
              </a:rPr>
              <a:t>Am </a:t>
            </a:r>
            <a:r>
              <a:rPr lang="en-US" dirty="0" err="1">
                <a:latin typeface="Aptos" panose="020B0004020202020204" pitchFamily="34" charset="0"/>
              </a:rPr>
              <a:t>realizat</a:t>
            </a:r>
            <a:r>
              <a:rPr lang="en-US" dirty="0">
                <a:latin typeface="Aptos" panose="020B0004020202020204" pitchFamily="34" charset="0"/>
              </a:rPr>
              <a:t> o c</a:t>
            </a:r>
            <a:r>
              <a:rPr lang="ro-RO" dirty="0" err="1">
                <a:latin typeface="Aptos" panose="020B0004020202020204" pitchFamily="34" charset="0"/>
              </a:rPr>
              <a:t>ăutare</a:t>
            </a:r>
            <a:r>
              <a:rPr lang="ro-RO" dirty="0">
                <a:latin typeface="Aptos" panose="020B0004020202020204" pitchFamily="34" charset="0"/>
              </a:rPr>
              <a:t> exhaustivă folosind mai mulți </a:t>
            </a:r>
            <a:r>
              <a:rPr lang="ro-RO" dirty="0" err="1">
                <a:latin typeface="Aptos" panose="020B0004020202020204" pitchFamily="34" charset="0"/>
              </a:rPr>
              <a:t>hyperparametri</a:t>
            </a:r>
            <a:r>
              <a:rPr lang="en-US" dirty="0">
                <a:latin typeface="Aptos" panose="020B0004020202020204" pitchFamily="34" charset="0"/>
              </a:rPr>
              <a:t> precum:</a:t>
            </a:r>
          </a:p>
          <a:p>
            <a:pPr lvl="2"/>
            <a:r>
              <a:rPr lang="en-US" dirty="0">
                <a:latin typeface="Aptos" panose="020B0004020202020204" pitchFamily="34" charset="0"/>
              </a:rPr>
              <a:t>Num</a:t>
            </a:r>
            <a:r>
              <a:rPr lang="ro-RO" dirty="0" err="1">
                <a:latin typeface="Aptos" panose="020B0004020202020204" pitchFamily="34" charset="0"/>
              </a:rPr>
              <a:t>ărul</a:t>
            </a:r>
            <a:r>
              <a:rPr lang="ro-RO" dirty="0">
                <a:latin typeface="Aptos" panose="020B0004020202020204" pitchFamily="34" charset="0"/>
              </a:rPr>
              <a:t> de estimatori (100, 300, 500)</a:t>
            </a:r>
          </a:p>
          <a:p>
            <a:pPr lvl="2"/>
            <a:r>
              <a:rPr lang="ro-RO" dirty="0">
                <a:latin typeface="Aptos" panose="020B0004020202020204" pitchFamily="34" charset="0"/>
              </a:rPr>
              <a:t>Numărul de trăsături extrase ( 0.5, 0.75,</a:t>
            </a:r>
          </a:p>
          <a:p>
            <a:pPr lvl="2"/>
            <a:r>
              <a:rPr lang="ro-RO" dirty="0">
                <a:latin typeface="Aptos" panose="020B0004020202020204" pitchFamily="34" charset="0"/>
              </a:rPr>
              <a:t>Numărul minim de reprezentați dintr-o tăietură</a:t>
            </a:r>
          </a:p>
          <a:p>
            <a:pPr lvl="2"/>
            <a:r>
              <a:rPr lang="ro-RO" dirty="0">
                <a:latin typeface="Aptos" panose="020B0004020202020204" pitchFamily="34" charset="0"/>
              </a:rPr>
              <a:t>Etc.</a:t>
            </a:r>
          </a:p>
          <a:p>
            <a:pPr lvl="1"/>
            <a:r>
              <a:rPr lang="ro-RO" dirty="0" err="1">
                <a:latin typeface="Aptos" panose="020B0004020202020204" pitchFamily="34" charset="0"/>
              </a:rPr>
              <a:t>Prinicpalul</a:t>
            </a:r>
            <a:r>
              <a:rPr lang="ro-RO" dirty="0">
                <a:latin typeface="Aptos" panose="020B0004020202020204" pitchFamily="34" charset="0"/>
              </a:rPr>
              <a:t> avantaj al acestei abordări este </a:t>
            </a:r>
            <a:r>
              <a:rPr lang="ro-RO" dirty="0" err="1">
                <a:latin typeface="Aptos" panose="020B0004020202020204" pitchFamily="34" charset="0"/>
              </a:rPr>
              <a:t>reprezent</a:t>
            </a:r>
            <a:r>
              <a:rPr lang="ro-RO" dirty="0">
                <a:latin typeface="Aptos" panose="020B0004020202020204" pitchFamily="34" charset="0"/>
              </a:rPr>
              <a:t> de timpul redus necesar antrenării și faptul că procesul optimizare a </a:t>
            </a:r>
            <a:r>
              <a:rPr lang="ro-RO" dirty="0" err="1">
                <a:latin typeface="Aptos" panose="020B0004020202020204" pitchFamily="34" charset="0"/>
              </a:rPr>
              <a:t>hyperparametrilor</a:t>
            </a:r>
            <a:r>
              <a:rPr lang="ro-RO" dirty="0">
                <a:latin typeface="Aptos" panose="020B0004020202020204" pitchFamily="34" charset="0"/>
              </a:rPr>
              <a:t> este mult mai ușor de realizat</a:t>
            </a:r>
            <a:endParaRPr lang="en-US" dirty="0">
              <a:latin typeface="Aptos" panose="020B0004020202020204" pitchFamily="34" charset="0"/>
            </a:endParaRPr>
          </a:p>
          <a:p>
            <a:pPr lvl="1"/>
            <a:endParaRPr lang="ro-RO" dirty="0">
              <a:latin typeface="Aptos" panose="020B0004020202020204" pitchFamily="34" charset="0"/>
            </a:endParaRPr>
          </a:p>
        </p:txBody>
      </p:sp>
    </p:spTree>
    <p:extLst>
      <p:ext uri="{BB962C8B-B14F-4D97-AF65-F5344CB8AC3E}">
        <p14:creationId xmlns:p14="http://schemas.microsoft.com/office/powerpoint/2010/main" val="12180274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74A7C-E2B9-993E-F0A5-B898D0183A47}"/>
            </a:ext>
          </a:extLst>
        </p:cNvPr>
        <p:cNvGrpSpPr/>
        <p:nvPr/>
      </p:nvGrpSpPr>
      <p:grpSpPr>
        <a:xfrm>
          <a:off x="0" y="0"/>
          <a:ext cx="0" cy="0"/>
          <a:chOff x="0" y="0"/>
          <a:chExt cx="0" cy="0"/>
        </a:xfrm>
      </p:grpSpPr>
      <p:sp>
        <p:nvSpPr>
          <p:cNvPr id="2" name="Titlu 1">
            <a:extLst>
              <a:ext uri="{FF2B5EF4-FFF2-40B4-BE49-F238E27FC236}">
                <a16:creationId xmlns:a16="http://schemas.microsoft.com/office/drawing/2014/main" id="{C62C79EE-A3F9-23B1-2D9A-2C21B9E706F0}"/>
              </a:ext>
            </a:extLst>
          </p:cNvPr>
          <p:cNvSpPr>
            <a:spLocks noGrp="1"/>
          </p:cNvSpPr>
          <p:nvPr>
            <p:ph type="title"/>
          </p:nvPr>
        </p:nvSpPr>
        <p:spPr/>
        <p:txBody>
          <a:bodyPr/>
          <a:lstStyle/>
          <a:p>
            <a:r>
              <a:rPr lang="ro-RO" dirty="0">
                <a:latin typeface="Aptos" panose="020B0004020202020204" pitchFamily="34" charset="0"/>
              </a:rPr>
              <a:t>Metode de clasificare</a:t>
            </a:r>
            <a:endParaRPr lang="en-US" dirty="0">
              <a:latin typeface="Aptos" panose="020B0004020202020204" pitchFamily="34" charset="0"/>
            </a:endParaRPr>
          </a:p>
        </p:txBody>
      </p:sp>
      <p:sp>
        <p:nvSpPr>
          <p:cNvPr id="3" name="Substituent conținut 2">
            <a:extLst>
              <a:ext uri="{FF2B5EF4-FFF2-40B4-BE49-F238E27FC236}">
                <a16:creationId xmlns:a16="http://schemas.microsoft.com/office/drawing/2014/main" id="{F40D2CDD-DC71-7625-9B4E-7A6EC878012C}"/>
              </a:ext>
            </a:extLst>
          </p:cNvPr>
          <p:cNvSpPr>
            <a:spLocks noGrp="1"/>
          </p:cNvSpPr>
          <p:nvPr>
            <p:ph idx="1"/>
          </p:nvPr>
        </p:nvSpPr>
        <p:spPr/>
        <p:txBody>
          <a:bodyPr/>
          <a:lstStyle/>
          <a:p>
            <a:pPr>
              <a:buFont typeface="Wingdings" panose="05000000000000000000" pitchFamily="2" charset="2"/>
              <a:buChar char="q"/>
            </a:pPr>
            <a:r>
              <a:rPr lang="ro-RO" dirty="0">
                <a:latin typeface="Aptos" panose="020B0004020202020204" pitchFamily="34" charset="0"/>
              </a:rPr>
              <a:t> </a:t>
            </a:r>
            <a:r>
              <a:rPr lang="ro-RO" dirty="0" err="1">
                <a:latin typeface="Aptos" panose="020B0004020202020204" pitchFamily="34" charset="0"/>
              </a:rPr>
              <a:t>Random</a:t>
            </a:r>
            <a:r>
              <a:rPr lang="ro-RO" dirty="0">
                <a:latin typeface="Aptos" panose="020B0004020202020204" pitchFamily="34" charset="0"/>
              </a:rPr>
              <a:t> Forrest</a:t>
            </a:r>
            <a:r>
              <a:rPr lang="en-US" dirty="0">
                <a:latin typeface="Aptos" panose="020B0004020202020204" pitchFamily="34" charset="0"/>
              </a:rPr>
              <a:t>:</a:t>
            </a:r>
          </a:p>
          <a:p>
            <a:pPr marL="457200" lvl="1" indent="0">
              <a:buNone/>
            </a:pPr>
            <a:endParaRPr lang="ro-RO" dirty="0">
              <a:latin typeface="Aptos" panose="020B0004020202020204" pitchFamily="34" charset="0"/>
            </a:endParaRPr>
          </a:p>
        </p:txBody>
      </p:sp>
      <p:pic>
        <p:nvPicPr>
          <p:cNvPr id="7" name="Imagine 6" descr="O imagine care conține text, captură de ecran, Font&#10;&#10;Conținutul generat de inteligența artificială poate fi incorect.">
            <a:extLst>
              <a:ext uri="{FF2B5EF4-FFF2-40B4-BE49-F238E27FC236}">
                <a16:creationId xmlns:a16="http://schemas.microsoft.com/office/drawing/2014/main" id="{AFD91698-A522-BDFA-277A-74328C11CF40}"/>
              </a:ext>
            </a:extLst>
          </p:cNvPr>
          <p:cNvPicPr>
            <a:picLocks noChangeAspect="1"/>
          </p:cNvPicPr>
          <p:nvPr/>
        </p:nvPicPr>
        <p:blipFill>
          <a:blip r:embed="rId2"/>
          <a:stretch>
            <a:fillRect/>
          </a:stretch>
        </p:blipFill>
        <p:spPr>
          <a:xfrm>
            <a:off x="546101" y="3529584"/>
            <a:ext cx="5054620" cy="2048927"/>
          </a:xfrm>
          <a:prstGeom prst="rect">
            <a:avLst/>
          </a:prstGeom>
        </p:spPr>
      </p:pic>
      <p:pic>
        <p:nvPicPr>
          <p:cNvPr id="9" name="Imagine 8" descr="O imagine care conține text, captură de ecran, diagramă, Dreptunghi&#10;&#10;Conținutul generat de inteligența artificială poate fi incorect.">
            <a:extLst>
              <a:ext uri="{FF2B5EF4-FFF2-40B4-BE49-F238E27FC236}">
                <a16:creationId xmlns:a16="http://schemas.microsoft.com/office/drawing/2014/main" id="{BD32D2BF-FB96-F682-AC8C-F305AAF0F8B7}"/>
              </a:ext>
            </a:extLst>
          </p:cNvPr>
          <p:cNvPicPr>
            <a:picLocks noChangeAspect="1"/>
          </p:cNvPicPr>
          <p:nvPr/>
        </p:nvPicPr>
        <p:blipFill>
          <a:blip r:embed="rId3"/>
          <a:stretch>
            <a:fillRect/>
          </a:stretch>
        </p:blipFill>
        <p:spPr>
          <a:xfrm>
            <a:off x="6600810" y="1771420"/>
            <a:ext cx="4713596" cy="3739896"/>
          </a:xfrm>
          <a:prstGeom prst="rect">
            <a:avLst/>
          </a:prstGeom>
        </p:spPr>
      </p:pic>
      <p:cxnSp>
        <p:nvCxnSpPr>
          <p:cNvPr id="11" name="Conector drept 10">
            <a:extLst>
              <a:ext uri="{FF2B5EF4-FFF2-40B4-BE49-F238E27FC236}">
                <a16:creationId xmlns:a16="http://schemas.microsoft.com/office/drawing/2014/main" id="{F2C286CF-6B09-90DD-643B-5618F37F5335}"/>
              </a:ext>
            </a:extLst>
          </p:cNvPr>
          <p:cNvCxnSpPr/>
          <p:nvPr/>
        </p:nvCxnSpPr>
        <p:spPr>
          <a:xfrm>
            <a:off x="6146800" y="1948942"/>
            <a:ext cx="0" cy="367665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87636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B6013-8155-2ED2-0C83-AB5AA53AAC78}"/>
            </a:ext>
          </a:extLst>
        </p:cNvPr>
        <p:cNvGrpSpPr/>
        <p:nvPr/>
      </p:nvGrpSpPr>
      <p:grpSpPr>
        <a:xfrm>
          <a:off x="0" y="0"/>
          <a:ext cx="0" cy="0"/>
          <a:chOff x="0" y="0"/>
          <a:chExt cx="0" cy="0"/>
        </a:xfrm>
      </p:grpSpPr>
      <p:sp>
        <p:nvSpPr>
          <p:cNvPr id="2" name="Titlu 1">
            <a:extLst>
              <a:ext uri="{FF2B5EF4-FFF2-40B4-BE49-F238E27FC236}">
                <a16:creationId xmlns:a16="http://schemas.microsoft.com/office/drawing/2014/main" id="{13597012-26C6-755A-7345-9E1EFC0FAF62}"/>
              </a:ext>
            </a:extLst>
          </p:cNvPr>
          <p:cNvSpPr>
            <a:spLocks noGrp="1"/>
          </p:cNvSpPr>
          <p:nvPr>
            <p:ph type="title"/>
          </p:nvPr>
        </p:nvSpPr>
        <p:spPr/>
        <p:txBody>
          <a:bodyPr/>
          <a:lstStyle/>
          <a:p>
            <a:r>
              <a:rPr lang="ro-RO" dirty="0">
                <a:latin typeface="Aptos" panose="020B0004020202020204" pitchFamily="34" charset="0"/>
              </a:rPr>
              <a:t>Metode de clasificare</a:t>
            </a:r>
            <a:endParaRPr lang="en-US" dirty="0">
              <a:latin typeface="Aptos" panose="020B0004020202020204" pitchFamily="34" charset="0"/>
            </a:endParaRPr>
          </a:p>
        </p:txBody>
      </p:sp>
      <p:sp>
        <p:nvSpPr>
          <p:cNvPr id="3" name="Substituent conținut 2">
            <a:extLst>
              <a:ext uri="{FF2B5EF4-FFF2-40B4-BE49-F238E27FC236}">
                <a16:creationId xmlns:a16="http://schemas.microsoft.com/office/drawing/2014/main" id="{D3919832-51E1-03B4-0530-248F0B3FFBE0}"/>
              </a:ext>
            </a:extLst>
          </p:cNvPr>
          <p:cNvSpPr>
            <a:spLocks noGrp="1"/>
          </p:cNvSpPr>
          <p:nvPr>
            <p:ph idx="1"/>
          </p:nvPr>
        </p:nvSpPr>
        <p:spPr/>
        <p:txBody>
          <a:bodyPr/>
          <a:lstStyle/>
          <a:p>
            <a:pPr>
              <a:buFont typeface="Wingdings" panose="05000000000000000000" pitchFamily="2" charset="2"/>
              <a:buChar char="q"/>
            </a:pPr>
            <a:r>
              <a:rPr lang="ro-RO" dirty="0">
                <a:latin typeface="Aptos" panose="020B0004020202020204" pitchFamily="34" charset="0"/>
              </a:rPr>
              <a:t> </a:t>
            </a:r>
            <a:r>
              <a:rPr lang="en-US" dirty="0">
                <a:latin typeface="Aptos" panose="020B0004020202020204" pitchFamily="34" charset="0"/>
              </a:rPr>
              <a:t>Support Vector Machine:</a:t>
            </a:r>
          </a:p>
          <a:p>
            <a:pPr lvl="1"/>
            <a:r>
              <a:rPr lang="en-US" dirty="0">
                <a:latin typeface="Aptos" panose="020B0004020202020204" pitchFamily="34" charset="0"/>
              </a:rPr>
              <a:t>Am </a:t>
            </a:r>
            <a:r>
              <a:rPr lang="en-US" dirty="0" err="1">
                <a:latin typeface="Aptos" panose="020B0004020202020204" pitchFamily="34" charset="0"/>
              </a:rPr>
              <a:t>realizat</a:t>
            </a:r>
            <a:r>
              <a:rPr lang="en-US" dirty="0">
                <a:latin typeface="Aptos" panose="020B0004020202020204" pitchFamily="34" charset="0"/>
              </a:rPr>
              <a:t> o c</a:t>
            </a:r>
            <a:r>
              <a:rPr lang="ro-RO" dirty="0" err="1">
                <a:latin typeface="Aptos" panose="020B0004020202020204" pitchFamily="34" charset="0"/>
              </a:rPr>
              <a:t>ăutare</a:t>
            </a:r>
            <a:r>
              <a:rPr lang="ro-RO" dirty="0">
                <a:latin typeface="Aptos" panose="020B0004020202020204" pitchFamily="34" charset="0"/>
              </a:rPr>
              <a:t> exhaustivă folosind mai mulți </a:t>
            </a:r>
            <a:r>
              <a:rPr lang="ro-RO" dirty="0" err="1">
                <a:latin typeface="Aptos" panose="020B0004020202020204" pitchFamily="34" charset="0"/>
              </a:rPr>
              <a:t>hyperparametri</a:t>
            </a:r>
            <a:r>
              <a:rPr lang="en-US" dirty="0">
                <a:latin typeface="Aptos" panose="020B0004020202020204" pitchFamily="34" charset="0"/>
              </a:rPr>
              <a:t> precum:</a:t>
            </a:r>
          </a:p>
          <a:p>
            <a:pPr lvl="2"/>
            <a:r>
              <a:rPr lang="en-US" dirty="0">
                <a:latin typeface="Aptos" panose="020B0004020202020204" pitchFamily="34" charset="0"/>
              </a:rPr>
              <a:t>Kernel </a:t>
            </a:r>
            <a:r>
              <a:rPr lang="ro-RO" dirty="0">
                <a:latin typeface="Aptos" panose="020B0004020202020204" pitchFamily="34" charset="0"/>
              </a:rPr>
              <a:t>(</a:t>
            </a:r>
            <a:r>
              <a:rPr lang="en-US" dirty="0">
                <a:latin typeface="Aptos" panose="020B0004020202020204" pitchFamily="34" charset="0"/>
              </a:rPr>
              <a:t>“RBF” , “Linear”</a:t>
            </a:r>
            <a:r>
              <a:rPr lang="ro-RO" dirty="0">
                <a:latin typeface="Aptos" panose="020B0004020202020204" pitchFamily="34" charset="0"/>
              </a:rPr>
              <a:t>)</a:t>
            </a:r>
          </a:p>
          <a:p>
            <a:pPr lvl="2"/>
            <a:r>
              <a:rPr lang="en-US" dirty="0">
                <a:latin typeface="Aptos" panose="020B0004020202020204" pitchFamily="34" charset="0"/>
              </a:rPr>
              <a:t>Regularization Term C</a:t>
            </a:r>
            <a:r>
              <a:rPr lang="ro-RO" dirty="0">
                <a:latin typeface="Aptos" panose="020B0004020202020204" pitchFamily="34" charset="0"/>
              </a:rPr>
              <a:t> ( 0</a:t>
            </a:r>
            <a:r>
              <a:rPr lang="en-US" dirty="0">
                <a:latin typeface="Aptos" panose="020B0004020202020204" pitchFamily="34" charset="0"/>
              </a:rPr>
              <a:t>.1</a:t>
            </a:r>
            <a:r>
              <a:rPr lang="ro-RO" dirty="0">
                <a:latin typeface="Aptos" panose="020B0004020202020204" pitchFamily="34" charset="0"/>
              </a:rPr>
              <a:t>, </a:t>
            </a:r>
            <a:r>
              <a:rPr lang="en-US" dirty="0">
                <a:latin typeface="Aptos" panose="020B0004020202020204" pitchFamily="34" charset="0"/>
              </a:rPr>
              <a:t>1, 10)</a:t>
            </a:r>
          </a:p>
          <a:p>
            <a:pPr lvl="2"/>
            <a:r>
              <a:rPr lang="en-US" dirty="0">
                <a:latin typeface="Aptos" panose="020B0004020202020204" pitchFamily="34" charset="0"/>
              </a:rPr>
              <a:t>Gamma (“scale”, 0.01, 0.1)</a:t>
            </a:r>
            <a:endParaRPr lang="ro-RO" dirty="0">
              <a:latin typeface="Aptos" panose="020B0004020202020204" pitchFamily="34" charset="0"/>
            </a:endParaRPr>
          </a:p>
          <a:p>
            <a:pPr lvl="1"/>
            <a:r>
              <a:rPr lang="it-IT" dirty="0">
                <a:latin typeface="Aptos" panose="020B0004020202020204" pitchFamily="34" charset="0"/>
              </a:rPr>
              <a:t>Modelul SVM este, teoretic, mai puțin sensibil</a:t>
            </a:r>
            <a:r>
              <a:rPr lang="ro-RO" dirty="0">
                <a:latin typeface="Aptos" panose="020B0004020202020204" pitchFamily="34" charset="0"/>
              </a:rPr>
              <a:t>, fiind ușor de controlat prin intermediul </a:t>
            </a:r>
            <a:r>
              <a:rPr lang="ro-RO" dirty="0" err="1">
                <a:latin typeface="Aptos" panose="020B0004020202020204" pitchFamily="34" charset="0"/>
              </a:rPr>
              <a:t>hyperparametrului</a:t>
            </a:r>
            <a:r>
              <a:rPr lang="ro-RO" dirty="0">
                <a:latin typeface="Aptos" panose="020B0004020202020204" pitchFamily="34" charset="0"/>
              </a:rPr>
              <a:t> C</a:t>
            </a:r>
            <a:r>
              <a:rPr lang="en-US" dirty="0">
                <a:latin typeface="Aptos" panose="020B0004020202020204" pitchFamily="34" charset="0"/>
              </a:rPr>
              <a:t>.</a:t>
            </a:r>
            <a:r>
              <a:rPr lang="ro-RO" dirty="0">
                <a:latin typeface="Aptos" panose="020B0004020202020204" pitchFamily="34" charset="0"/>
              </a:rPr>
              <a:t> Marele dezavantaj al acestui model este reprezentat de timpul mare de necesar optimizării </a:t>
            </a:r>
            <a:r>
              <a:rPr lang="ro-RO" dirty="0" err="1">
                <a:latin typeface="Aptos" panose="020B0004020202020204" pitchFamily="34" charset="0"/>
              </a:rPr>
              <a:t>hyperparametrilor</a:t>
            </a:r>
            <a:r>
              <a:rPr lang="ro-RO" dirty="0">
                <a:latin typeface="Aptos" panose="020B0004020202020204" pitchFamily="34" charset="0"/>
              </a:rPr>
              <a:t> și al antrenării. Cu precădere în cazul utilizării unui </a:t>
            </a:r>
            <a:r>
              <a:rPr lang="ro-RO" dirty="0" err="1">
                <a:latin typeface="Aptos" panose="020B0004020202020204" pitchFamily="34" charset="0"/>
              </a:rPr>
              <a:t>kernel</a:t>
            </a:r>
            <a:r>
              <a:rPr lang="ro-RO" dirty="0">
                <a:latin typeface="Aptos" panose="020B0004020202020204" pitchFamily="34" charset="0"/>
              </a:rPr>
              <a:t> de tip </a:t>
            </a:r>
            <a:r>
              <a:rPr lang="en-US" dirty="0">
                <a:latin typeface="Aptos" panose="020B0004020202020204" pitchFamily="34" charset="0"/>
              </a:rPr>
              <a:t>“RBF”</a:t>
            </a:r>
          </a:p>
          <a:p>
            <a:pPr lvl="1"/>
            <a:endParaRPr lang="en-US" dirty="0">
              <a:latin typeface="Aptos" panose="020B0004020202020204" pitchFamily="34" charset="0"/>
            </a:endParaRPr>
          </a:p>
          <a:p>
            <a:pPr lvl="1"/>
            <a:endParaRPr lang="ro-RO" dirty="0">
              <a:latin typeface="Aptos" panose="020B0004020202020204" pitchFamily="34" charset="0"/>
            </a:endParaRPr>
          </a:p>
        </p:txBody>
      </p:sp>
    </p:spTree>
    <p:extLst>
      <p:ext uri="{BB962C8B-B14F-4D97-AF65-F5344CB8AC3E}">
        <p14:creationId xmlns:p14="http://schemas.microsoft.com/office/powerpoint/2010/main" val="36434369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4D887-3E32-14D3-1577-283E99D94696}"/>
            </a:ext>
          </a:extLst>
        </p:cNvPr>
        <p:cNvGrpSpPr/>
        <p:nvPr/>
      </p:nvGrpSpPr>
      <p:grpSpPr>
        <a:xfrm>
          <a:off x="0" y="0"/>
          <a:ext cx="0" cy="0"/>
          <a:chOff x="0" y="0"/>
          <a:chExt cx="0" cy="0"/>
        </a:xfrm>
      </p:grpSpPr>
      <p:sp>
        <p:nvSpPr>
          <p:cNvPr id="2" name="Titlu 1">
            <a:extLst>
              <a:ext uri="{FF2B5EF4-FFF2-40B4-BE49-F238E27FC236}">
                <a16:creationId xmlns:a16="http://schemas.microsoft.com/office/drawing/2014/main" id="{B961FAC8-4878-8A33-FDA3-1C941A041F75}"/>
              </a:ext>
            </a:extLst>
          </p:cNvPr>
          <p:cNvSpPr>
            <a:spLocks noGrp="1"/>
          </p:cNvSpPr>
          <p:nvPr>
            <p:ph type="title"/>
          </p:nvPr>
        </p:nvSpPr>
        <p:spPr/>
        <p:txBody>
          <a:bodyPr/>
          <a:lstStyle/>
          <a:p>
            <a:r>
              <a:rPr lang="ro-RO" dirty="0">
                <a:latin typeface="Aptos" panose="020B0004020202020204" pitchFamily="34" charset="0"/>
              </a:rPr>
              <a:t>Metode de clasificare</a:t>
            </a:r>
            <a:endParaRPr lang="en-US" dirty="0">
              <a:latin typeface="Aptos" panose="020B0004020202020204" pitchFamily="34" charset="0"/>
            </a:endParaRPr>
          </a:p>
        </p:txBody>
      </p:sp>
      <p:sp>
        <p:nvSpPr>
          <p:cNvPr id="3" name="Substituent conținut 2">
            <a:extLst>
              <a:ext uri="{FF2B5EF4-FFF2-40B4-BE49-F238E27FC236}">
                <a16:creationId xmlns:a16="http://schemas.microsoft.com/office/drawing/2014/main" id="{A5191C43-9C11-273D-CE0F-685621143596}"/>
              </a:ext>
            </a:extLst>
          </p:cNvPr>
          <p:cNvSpPr>
            <a:spLocks noGrp="1"/>
          </p:cNvSpPr>
          <p:nvPr>
            <p:ph idx="1"/>
          </p:nvPr>
        </p:nvSpPr>
        <p:spPr/>
        <p:txBody>
          <a:bodyPr/>
          <a:lstStyle/>
          <a:p>
            <a:pPr>
              <a:buFont typeface="Wingdings" panose="05000000000000000000" pitchFamily="2" charset="2"/>
              <a:buChar char="q"/>
            </a:pPr>
            <a:r>
              <a:rPr lang="ro-RO" dirty="0">
                <a:latin typeface="Aptos" panose="020B0004020202020204" pitchFamily="34" charset="0"/>
              </a:rPr>
              <a:t> </a:t>
            </a:r>
            <a:r>
              <a:rPr lang="ro-RO" dirty="0" err="1">
                <a:latin typeface="Aptos" panose="020B0004020202020204" pitchFamily="34" charset="0"/>
              </a:rPr>
              <a:t>Random</a:t>
            </a:r>
            <a:r>
              <a:rPr lang="ro-RO" dirty="0">
                <a:latin typeface="Aptos" panose="020B0004020202020204" pitchFamily="34" charset="0"/>
              </a:rPr>
              <a:t> Forest</a:t>
            </a:r>
            <a:r>
              <a:rPr lang="en-US" dirty="0">
                <a:latin typeface="Aptos" panose="020B0004020202020204" pitchFamily="34" charset="0"/>
              </a:rPr>
              <a:t>:</a:t>
            </a:r>
          </a:p>
          <a:p>
            <a:pPr marL="457200" lvl="1" indent="0">
              <a:buNone/>
            </a:pPr>
            <a:endParaRPr lang="ro-RO" dirty="0">
              <a:latin typeface="Aptos" panose="020B0004020202020204" pitchFamily="34" charset="0"/>
            </a:endParaRPr>
          </a:p>
        </p:txBody>
      </p:sp>
      <p:cxnSp>
        <p:nvCxnSpPr>
          <p:cNvPr id="11" name="Conector drept 10">
            <a:extLst>
              <a:ext uri="{FF2B5EF4-FFF2-40B4-BE49-F238E27FC236}">
                <a16:creationId xmlns:a16="http://schemas.microsoft.com/office/drawing/2014/main" id="{40589D17-BF20-D2AC-23A8-E59542216D27}"/>
              </a:ext>
            </a:extLst>
          </p:cNvPr>
          <p:cNvCxnSpPr/>
          <p:nvPr/>
        </p:nvCxnSpPr>
        <p:spPr>
          <a:xfrm>
            <a:off x="6146800" y="1948942"/>
            <a:ext cx="0" cy="367665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pic>
        <p:nvPicPr>
          <p:cNvPr id="1026" name="Picture 2">
            <a:extLst>
              <a:ext uri="{FF2B5EF4-FFF2-40B4-BE49-F238E27FC236}">
                <a16:creationId xmlns:a16="http://schemas.microsoft.com/office/drawing/2014/main" id="{2AAC7DAA-192E-5F3B-C172-23F48E6021E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10" t="4410" r="13635" b="4561"/>
          <a:stretch>
            <a:fillRect/>
          </a:stretch>
        </p:blipFill>
        <p:spPr bwMode="auto">
          <a:xfrm>
            <a:off x="7003127" y="1948942"/>
            <a:ext cx="4934852" cy="3791856"/>
          </a:xfrm>
          <a:prstGeom prst="rect">
            <a:avLst/>
          </a:prstGeom>
          <a:noFill/>
          <a:extLst>
            <a:ext uri="{909E8E84-426E-40DD-AFC4-6F175D3DCCD1}">
              <a14:hiddenFill xmlns:a14="http://schemas.microsoft.com/office/drawing/2010/main">
                <a:solidFill>
                  <a:srgbClr val="FFFFFF"/>
                </a:solidFill>
              </a14:hiddenFill>
            </a:ext>
          </a:extLst>
        </p:spPr>
      </p:pic>
      <p:pic>
        <p:nvPicPr>
          <p:cNvPr id="13" name="Imagine 12" descr="O imagine care conține text, captură de ecran, Font&#10;&#10;Conținutul generat de inteligența artificială poate fi incorect.">
            <a:extLst>
              <a:ext uri="{FF2B5EF4-FFF2-40B4-BE49-F238E27FC236}">
                <a16:creationId xmlns:a16="http://schemas.microsoft.com/office/drawing/2014/main" id="{468C36AA-E2F0-B2D6-911D-3C967AA303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9626" y="2752097"/>
            <a:ext cx="4249248" cy="2873495"/>
          </a:xfrm>
          <a:prstGeom prst="rect">
            <a:avLst/>
          </a:prstGeom>
        </p:spPr>
      </p:pic>
    </p:spTree>
    <p:extLst>
      <p:ext uri="{BB962C8B-B14F-4D97-AF65-F5344CB8AC3E}">
        <p14:creationId xmlns:p14="http://schemas.microsoft.com/office/powerpoint/2010/main" val="39078752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DE38C-7BDD-D71F-A7C4-85954CB8E76C}"/>
            </a:ext>
          </a:extLst>
        </p:cNvPr>
        <p:cNvGrpSpPr/>
        <p:nvPr/>
      </p:nvGrpSpPr>
      <p:grpSpPr>
        <a:xfrm>
          <a:off x="0" y="0"/>
          <a:ext cx="0" cy="0"/>
          <a:chOff x="0" y="0"/>
          <a:chExt cx="0" cy="0"/>
        </a:xfrm>
      </p:grpSpPr>
      <p:sp>
        <p:nvSpPr>
          <p:cNvPr id="2" name="Titlu 1">
            <a:extLst>
              <a:ext uri="{FF2B5EF4-FFF2-40B4-BE49-F238E27FC236}">
                <a16:creationId xmlns:a16="http://schemas.microsoft.com/office/drawing/2014/main" id="{D6D7CCCD-CABD-6C20-FBCE-DF94BE1DDE29}"/>
              </a:ext>
            </a:extLst>
          </p:cNvPr>
          <p:cNvSpPr>
            <a:spLocks noGrp="1"/>
          </p:cNvSpPr>
          <p:nvPr>
            <p:ph type="title"/>
          </p:nvPr>
        </p:nvSpPr>
        <p:spPr/>
        <p:txBody>
          <a:bodyPr/>
          <a:lstStyle/>
          <a:p>
            <a:r>
              <a:rPr lang="ro-RO" dirty="0">
                <a:latin typeface="Aptos" panose="020B0004020202020204" pitchFamily="34" charset="0"/>
              </a:rPr>
              <a:t>Metode de clasificare</a:t>
            </a:r>
            <a:endParaRPr lang="en-US" dirty="0">
              <a:latin typeface="Aptos" panose="020B0004020202020204" pitchFamily="34" charset="0"/>
            </a:endParaRPr>
          </a:p>
        </p:txBody>
      </p:sp>
      <p:sp>
        <p:nvSpPr>
          <p:cNvPr id="3" name="Substituent conținut 2">
            <a:extLst>
              <a:ext uri="{FF2B5EF4-FFF2-40B4-BE49-F238E27FC236}">
                <a16:creationId xmlns:a16="http://schemas.microsoft.com/office/drawing/2014/main" id="{6C995BDD-7925-A860-5FAC-AD9047B4B0C2}"/>
              </a:ext>
            </a:extLst>
          </p:cNvPr>
          <p:cNvSpPr>
            <a:spLocks noGrp="1"/>
          </p:cNvSpPr>
          <p:nvPr>
            <p:ph idx="1"/>
          </p:nvPr>
        </p:nvSpPr>
        <p:spPr/>
        <p:txBody>
          <a:bodyPr>
            <a:normAutofit fontScale="92500"/>
          </a:bodyPr>
          <a:lstStyle/>
          <a:p>
            <a:pPr>
              <a:buFont typeface="Wingdings" panose="05000000000000000000" pitchFamily="2" charset="2"/>
              <a:buChar char="q"/>
            </a:pPr>
            <a:r>
              <a:rPr lang="ro-RO" dirty="0">
                <a:latin typeface="Aptos" panose="020B0004020202020204" pitchFamily="34" charset="0"/>
              </a:rPr>
              <a:t> </a:t>
            </a:r>
            <a:r>
              <a:rPr lang="en-US" dirty="0">
                <a:latin typeface="Aptos" panose="020B0004020202020204" pitchFamily="34" charset="0"/>
              </a:rPr>
              <a:t>Perceptron </a:t>
            </a:r>
            <a:r>
              <a:rPr lang="ro-RO" dirty="0">
                <a:latin typeface="Aptos" panose="020B0004020202020204" pitchFamily="34" charset="0"/>
              </a:rPr>
              <a:t>M</a:t>
            </a:r>
            <a:r>
              <a:rPr lang="en-US" dirty="0" err="1">
                <a:latin typeface="Aptos" panose="020B0004020202020204" pitchFamily="34" charset="0"/>
              </a:rPr>
              <a:t>ultistrat</a:t>
            </a:r>
            <a:r>
              <a:rPr lang="en-US" dirty="0">
                <a:latin typeface="Aptos" panose="020B0004020202020204" pitchFamily="34" charset="0"/>
              </a:rPr>
              <a:t>:</a:t>
            </a:r>
          </a:p>
          <a:p>
            <a:pPr lvl="1"/>
            <a:r>
              <a:rPr lang="ro-RO" sz="2000" dirty="0">
                <a:latin typeface="Aptos" panose="020B0004020202020204" pitchFamily="34" charset="0"/>
              </a:rPr>
              <a:t>În acest caz nu am realizat o căutare exhaustivă parametrii fiind căutați în mod manual</a:t>
            </a:r>
            <a:r>
              <a:rPr lang="en-US" sz="2000" dirty="0">
                <a:latin typeface="Aptos" panose="020B0004020202020204" pitchFamily="34" charset="0"/>
              </a:rPr>
              <a:t>:</a:t>
            </a:r>
            <a:endParaRPr lang="ro-RO" sz="2000" dirty="0">
              <a:latin typeface="Aptos" panose="020B0004020202020204" pitchFamily="34" charset="0"/>
            </a:endParaRPr>
          </a:p>
          <a:p>
            <a:pPr lvl="1"/>
            <a:r>
              <a:rPr lang="ro-RO" sz="2000" dirty="0">
                <a:latin typeface="Aptos" panose="020B0004020202020204" pitchFamily="34" charset="0"/>
              </a:rPr>
              <a:t>Numărul de straturi și neuronii de pe fiecare strat au fost modificați treptat în rulări repetate.</a:t>
            </a:r>
          </a:p>
          <a:p>
            <a:pPr lvl="1"/>
            <a:r>
              <a:rPr lang="ro-RO" sz="2000" dirty="0">
                <a:latin typeface="Aptos" panose="020B0004020202020204" pitchFamily="34" charset="0"/>
              </a:rPr>
              <a:t>Toate modelele încercate au avut parte de o </a:t>
            </a:r>
            <a:r>
              <a:rPr lang="ro-RO" sz="2000" dirty="0" err="1">
                <a:latin typeface="Aptos" panose="020B0004020202020204" pitchFamily="34" charset="0"/>
              </a:rPr>
              <a:t>supraînvățarea</a:t>
            </a:r>
            <a:r>
              <a:rPr lang="ro-RO" sz="2000" dirty="0">
                <a:latin typeface="Aptos" panose="020B0004020202020204" pitchFamily="34" charset="0"/>
              </a:rPr>
              <a:t> foarte rapidă, după doar câteva epoci</a:t>
            </a:r>
          </a:p>
          <a:p>
            <a:pPr lvl="1"/>
            <a:r>
              <a:rPr lang="ro-RO" sz="2000" dirty="0">
                <a:latin typeface="Aptos" panose="020B0004020202020204" pitchFamily="34" charset="0"/>
              </a:rPr>
              <a:t>Drept tehnică de regularizare am folosit un strat de </a:t>
            </a:r>
            <a:r>
              <a:rPr lang="ro-RO" sz="2000" dirty="0" err="1">
                <a:latin typeface="Aptos" panose="020B0004020202020204" pitchFamily="34" charset="0"/>
              </a:rPr>
              <a:t>Dropout</a:t>
            </a:r>
            <a:r>
              <a:rPr lang="ro-RO" sz="2000" dirty="0">
                <a:latin typeface="Aptos" panose="020B0004020202020204" pitchFamily="34" charset="0"/>
              </a:rPr>
              <a:t> după fiecare strat complet conectat.</a:t>
            </a:r>
          </a:p>
          <a:p>
            <a:pPr lvl="1"/>
            <a:r>
              <a:rPr lang="ro-RO" sz="2000" dirty="0">
                <a:latin typeface="Aptos" panose="020B0004020202020204" pitchFamily="34" charset="0"/>
              </a:rPr>
              <a:t>Principalul dezavantaj al acestui tip de model este reprezentat de dificultatea de a optimiza </a:t>
            </a:r>
            <a:r>
              <a:rPr lang="ro-RO" sz="2000" dirty="0" err="1">
                <a:latin typeface="Aptos" panose="020B0004020202020204" pitchFamily="34" charset="0"/>
              </a:rPr>
              <a:t>hyperparametrii</a:t>
            </a:r>
            <a:r>
              <a:rPr lang="ro-RO" sz="2000" dirty="0">
                <a:latin typeface="Aptos" panose="020B0004020202020204" pitchFamily="34" charset="0"/>
              </a:rPr>
              <a:t>. După cum se poate observa în cazul nostru nu am putut obține valori ideale ale acestora.</a:t>
            </a:r>
            <a:endParaRPr lang="en-US" sz="2000" dirty="0">
              <a:latin typeface="Aptos" panose="020B0004020202020204" pitchFamily="34" charset="0"/>
            </a:endParaRPr>
          </a:p>
          <a:p>
            <a:pPr lvl="1"/>
            <a:endParaRPr lang="ro-RO" dirty="0">
              <a:latin typeface="Aptos" panose="020B0004020202020204" pitchFamily="34" charset="0"/>
            </a:endParaRPr>
          </a:p>
        </p:txBody>
      </p:sp>
    </p:spTree>
    <p:extLst>
      <p:ext uri="{BB962C8B-B14F-4D97-AF65-F5344CB8AC3E}">
        <p14:creationId xmlns:p14="http://schemas.microsoft.com/office/powerpoint/2010/main" val="5751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95166-80A2-FDEC-1145-E723F84A48C7}"/>
            </a:ext>
          </a:extLst>
        </p:cNvPr>
        <p:cNvGrpSpPr/>
        <p:nvPr/>
      </p:nvGrpSpPr>
      <p:grpSpPr>
        <a:xfrm>
          <a:off x="0" y="0"/>
          <a:ext cx="0" cy="0"/>
          <a:chOff x="0" y="0"/>
          <a:chExt cx="0" cy="0"/>
        </a:xfrm>
      </p:grpSpPr>
      <p:sp>
        <p:nvSpPr>
          <p:cNvPr id="2" name="Titlu 1">
            <a:extLst>
              <a:ext uri="{FF2B5EF4-FFF2-40B4-BE49-F238E27FC236}">
                <a16:creationId xmlns:a16="http://schemas.microsoft.com/office/drawing/2014/main" id="{1798E52D-8D24-1B1D-1A5F-C069AE8AB77B}"/>
              </a:ext>
            </a:extLst>
          </p:cNvPr>
          <p:cNvSpPr>
            <a:spLocks noGrp="1"/>
          </p:cNvSpPr>
          <p:nvPr>
            <p:ph type="title"/>
          </p:nvPr>
        </p:nvSpPr>
        <p:spPr/>
        <p:txBody>
          <a:bodyPr/>
          <a:lstStyle/>
          <a:p>
            <a:r>
              <a:rPr lang="ro-RO" dirty="0">
                <a:latin typeface="Aptos" panose="020B0004020202020204" pitchFamily="34" charset="0"/>
              </a:rPr>
              <a:t>Metode de clasificare</a:t>
            </a:r>
            <a:endParaRPr lang="en-US" dirty="0">
              <a:latin typeface="Aptos" panose="020B0004020202020204" pitchFamily="34" charset="0"/>
            </a:endParaRPr>
          </a:p>
        </p:txBody>
      </p:sp>
      <p:sp>
        <p:nvSpPr>
          <p:cNvPr id="3" name="Substituent conținut 2">
            <a:extLst>
              <a:ext uri="{FF2B5EF4-FFF2-40B4-BE49-F238E27FC236}">
                <a16:creationId xmlns:a16="http://schemas.microsoft.com/office/drawing/2014/main" id="{DC34F9E3-7120-7F36-BE80-A58C6FFD8ED5}"/>
              </a:ext>
            </a:extLst>
          </p:cNvPr>
          <p:cNvSpPr>
            <a:spLocks noGrp="1"/>
          </p:cNvSpPr>
          <p:nvPr>
            <p:ph idx="1"/>
          </p:nvPr>
        </p:nvSpPr>
        <p:spPr/>
        <p:txBody>
          <a:bodyPr/>
          <a:lstStyle/>
          <a:p>
            <a:pPr>
              <a:buFont typeface="Wingdings" panose="05000000000000000000" pitchFamily="2" charset="2"/>
              <a:buChar char="q"/>
            </a:pPr>
            <a:r>
              <a:rPr lang="ro-RO" dirty="0">
                <a:latin typeface="Aptos" panose="020B0004020202020204" pitchFamily="34" charset="0"/>
              </a:rPr>
              <a:t> </a:t>
            </a:r>
            <a:r>
              <a:rPr lang="ro-RO" dirty="0" err="1">
                <a:latin typeface="Aptos" panose="020B0004020202020204" pitchFamily="34" charset="0"/>
              </a:rPr>
              <a:t>Random</a:t>
            </a:r>
            <a:r>
              <a:rPr lang="ro-RO" dirty="0">
                <a:latin typeface="Aptos" panose="020B0004020202020204" pitchFamily="34" charset="0"/>
              </a:rPr>
              <a:t> Forrest</a:t>
            </a:r>
            <a:r>
              <a:rPr lang="en-US" dirty="0">
                <a:latin typeface="Aptos" panose="020B0004020202020204" pitchFamily="34" charset="0"/>
              </a:rPr>
              <a:t>:</a:t>
            </a:r>
          </a:p>
          <a:p>
            <a:pPr marL="457200" lvl="1" indent="0">
              <a:buNone/>
            </a:pPr>
            <a:endParaRPr lang="ro-RO" dirty="0">
              <a:latin typeface="Aptos" panose="020B0004020202020204" pitchFamily="34" charset="0"/>
            </a:endParaRPr>
          </a:p>
        </p:txBody>
      </p:sp>
      <p:cxnSp>
        <p:nvCxnSpPr>
          <p:cNvPr id="11" name="Conector drept 10">
            <a:extLst>
              <a:ext uri="{FF2B5EF4-FFF2-40B4-BE49-F238E27FC236}">
                <a16:creationId xmlns:a16="http://schemas.microsoft.com/office/drawing/2014/main" id="{4290CFB5-92AC-C2B6-570B-CCE3B02270FC}"/>
              </a:ext>
            </a:extLst>
          </p:cNvPr>
          <p:cNvCxnSpPr/>
          <p:nvPr/>
        </p:nvCxnSpPr>
        <p:spPr>
          <a:xfrm>
            <a:off x="6146800" y="1948942"/>
            <a:ext cx="0" cy="367665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pic>
        <p:nvPicPr>
          <p:cNvPr id="4" name="Imagine 3" descr="O imagine care conține text, captură de ecran, Font, număr&#10;&#10;Conținutul generat de inteligența artificială poate fi incorect.">
            <a:extLst>
              <a:ext uri="{FF2B5EF4-FFF2-40B4-BE49-F238E27FC236}">
                <a16:creationId xmlns:a16="http://schemas.microsoft.com/office/drawing/2014/main" id="{C705AE70-A967-0A59-6E7D-991234643501}"/>
              </a:ext>
            </a:extLst>
          </p:cNvPr>
          <p:cNvPicPr>
            <a:picLocks noChangeAspect="1"/>
          </p:cNvPicPr>
          <p:nvPr/>
        </p:nvPicPr>
        <p:blipFill>
          <a:blip r:embed="rId2"/>
          <a:stretch>
            <a:fillRect/>
          </a:stretch>
        </p:blipFill>
        <p:spPr>
          <a:xfrm>
            <a:off x="358307" y="3134195"/>
            <a:ext cx="5091807" cy="1915489"/>
          </a:xfrm>
          <a:prstGeom prst="rect">
            <a:avLst/>
          </a:prstGeom>
        </p:spPr>
      </p:pic>
      <p:pic>
        <p:nvPicPr>
          <p:cNvPr id="5" name="Imagine 4" descr="O imagine care conține text, captură de ecran, diagramă, Dreptunghi&#10;&#10;Conținutul generat de inteligența artificială poate fi incorect.">
            <a:extLst>
              <a:ext uri="{FF2B5EF4-FFF2-40B4-BE49-F238E27FC236}">
                <a16:creationId xmlns:a16="http://schemas.microsoft.com/office/drawing/2014/main" id="{8CD15124-CF9E-CA5E-26E4-399DB601F039}"/>
              </a:ext>
            </a:extLst>
          </p:cNvPr>
          <p:cNvPicPr>
            <a:picLocks noChangeAspect="1"/>
          </p:cNvPicPr>
          <p:nvPr/>
        </p:nvPicPr>
        <p:blipFill>
          <a:blip r:embed="rId3"/>
          <a:stretch>
            <a:fillRect/>
          </a:stretch>
        </p:blipFill>
        <p:spPr>
          <a:xfrm>
            <a:off x="7010368" y="2082800"/>
            <a:ext cx="4638328" cy="3488829"/>
          </a:xfrm>
          <a:prstGeom prst="rect">
            <a:avLst/>
          </a:prstGeom>
        </p:spPr>
      </p:pic>
    </p:spTree>
    <p:extLst>
      <p:ext uri="{BB962C8B-B14F-4D97-AF65-F5344CB8AC3E}">
        <p14:creationId xmlns:p14="http://schemas.microsoft.com/office/powerpoint/2010/main" val="5615694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42CA5FD5-D192-7026-F71C-451FCDE01274}"/>
              </a:ext>
            </a:extLst>
          </p:cNvPr>
          <p:cNvSpPr>
            <a:spLocks noGrp="1"/>
          </p:cNvSpPr>
          <p:nvPr>
            <p:ph type="title"/>
          </p:nvPr>
        </p:nvSpPr>
        <p:spPr/>
        <p:txBody>
          <a:bodyPr/>
          <a:lstStyle/>
          <a:p>
            <a:r>
              <a:rPr lang="ro-RO" dirty="0">
                <a:latin typeface="Aptos" panose="020B0004020202020204" pitchFamily="34" charset="0"/>
              </a:rPr>
              <a:t>Verificarea Asimetriei</a:t>
            </a:r>
            <a:endParaRPr lang="en-US" dirty="0"/>
          </a:p>
        </p:txBody>
      </p:sp>
      <p:sp>
        <p:nvSpPr>
          <p:cNvPr id="3" name="Substituent conținut 2">
            <a:extLst>
              <a:ext uri="{FF2B5EF4-FFF2-40B4-BE49-F238E27FC236}">
                <a16:creationId xmlns:a16="http://schemas.microsoft.com/office/drawing/2014/main" id="{A029EC61-E434-355C-CDF5-6A5A412E85BE}"/>
              </a:ext>
            </a:extLst>
          </p:cNvPr>
          <p:cNvSpPr>
            <a:spLocks noGrp="1"/>
          </p:cNvSpPr>
          <p:nvPr>
            <p:ph idx="1"/>
          </p:nvPr>
        </p:nvSpPr>
        <p:spPr>
          <a:xfrm>
            <a:off x="700635" y="2069592"/>
            <a:ext cx="10691265" cy="4345722"/>
          </a:xfrm>
        </p:spPr>
        <p:txBody>
          <a:bodyPr>
            <a:normAutofit fontScale="92500" lnSpcReduction="10000"/>
          </a:bodyPr>
          <a:lstStyle/>
          <a:p>
            <a:pPr>
              <a:buFont typeface="Wingdings" panose="05000000000000000000" pitchFamily="2" charset="2"/>
              <a:buChar char="q"/>
            </a:pPr>
            <a:r>
              <a:rPr lang="ro-RO" sz="2200" dirty="0">
                <a:latin typeface="Aptos" panose="020B0004020202020204" pitchFamily="34" charset="0"/>
              </a:rPr>
              <a:t> Pentru verificarea asimetriei dintre mușchi am folosit mai multe abordări diferite având totuși la bază aceeași procesare care a constat în determinarea coeficienților de asimetrie pentru tot semnalul sau pentru fiecare fereastră. Am reținut de fiecare dată numai coeficientul de asimetrie maxim dintre canale care în mod normal ar trebui să reprezinte asimetria dintre canalele corespunzătoare unor grupe musculare diferite.</a:t>
            </a:r>
          </a:p>
          <a:p>
            <a:pPr>
              <a:buFont typeface="Wingdings" panose="05000000000000000000" pitchFamily="2" charset="2"/>
              <a:buChar char="q"/>
            </a:pPr>
            <a:r>
              <a:rPr lang="ro-RO" sz="2200" dirty="0">
                <a:latin typeface="Aptos" panose="020B0004020202020204" pitchFamily="34" charset="0"/>
              </a:rPr>
              <a:t>Odată calculați, în funcție de parametrul utilizat la intrarea funcției, asimetria poate fi verificată prin utilizarea unuia dintre parametrii (obținut cu ajutorul mărimii </a:t>
            </a:r>
            <a:r>
              <a:rPr lang="ro-RO" sz="2200" dirty="0" err="1">
                <a:latin typeface="Aptos" panose="020B0004020202020204" pitchFamily="34" charset="0"/>
              </a:rPr>
              <a:t>Skewness</a:t>
            </a:r>
            <a:r>
              <a:rPr lang="ro-RO" sz="2200" dirty="0">
                <a:latin typeface="Aptos" panose="020B0004020202020204" pitchFamily="34" charset="0"/>
              </a:rPr>
              <a:t> sau a trăsăturii RMS)  sau amândurora realizând media dintre. Acest rezultat va fi comparat cu un prag care de va clasa persoana în una dintre clasele de asimetrie </a:t>
            </a:r>
          </a:p>
          <a:p>
            <a:pPr>
              <a:buFont typeface="Wingdings" panose="05000000000000000000" pitchFamily="2" charset="2"/>
              <a:buChar char="q"/>
            </a:pPr>
            <a:r>
              <a:rPr lang="ro-RO" sz="2200" dirty="0">
                <a:latin typeface="Aptos" panose="020B0004020202020204" pitchFamily="34" charset="0"/>
              </a:rPr>
              <a:t>În cazul determinării asimetriei folosind mai multe ferestre se pot alege de asemenea 2 </a:t>
            </a:r>
            <a:r>
              <a:rPr lang="ro-RO" sz="2200" dirty="0" err="1">
                <a:latin typeface="Aptos" panose="020B0004020202020204" pitchFamily="34" charset="0"/>
              </a:rPr>
              <a:t>varainte</a:t>
            </a:r>
            <a:r>
              <a:rPr lang="ro-RO" sz="2200" dirty="0">
                <a:latin typeface="Aptos" panose="020B0004020202020204" pitchFamily="34" charset="0"/>
              </a:rPr>
              <a:t> anume clasificarea în clasa de asimetrie pe baza mediei parametrilor de </a:t>
            </a:r>
            <a:r>
              <a:rPr lang="ro-RO" sz="2200" dirty="0" err="1">
                <a:latin typeface="Aptos" panose="020B0004020202020204" pitchFamily="34" charset="0"/>
              </a:rPr>
              <a:t>asimtrie</a:t>
            </a:r>
            <a:r>
              <a:rPr lang="ro-RO" sz="2200" dirty="0">
                <a:latin typeface="Aptos" panose="020B0004020202020204" pitchFamily="34" charset="0"/>
              </a:rPr>
              <a:t> dintre ferestre sau prin vot majoritar.</a:t>
            </a:r>
            <a:endParaRPr lang="en-US" sz="2200" dirty="0">
              <a:latin typeface="Aptos" panose="020B0004020202020204" pitchFamily="34" charset="0"/>
            </a:endParaRPr>
          </a:p>
          <a:p>
            <a:pPr marL="457200" lvl="1" indent="0">
              <a:buNone/>
            </a:pPr>
            <a:r>
              <a:rPr lang="ro-RO" dirty="0"/>
              <a:t> </a:t>
            </a:r>
            <a:endParaRPr lang="en-US" dirty="0"/>
          </a:p>
        </p:txBody>
      </p:sp>
    </p:spTree>
    <p:extLst>
      <p:ext uri="{BB962C8B-B14F-4D97-AF65-F5344CB8AC3E}">
        <p14:creationId xmlns:p14="http://schemas.microsoft.com/office/powerpoint/2010/main" val="12830868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D1A8C4F8-261C-7C98-9585-431358419F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u 1">
            <a:extLst>
              <a:ext uri="{FF2B5EF4-FFF2-40B4-BE49-F238E27FC236}">
                <a16:creationId xmlns:a16="http://schemas.microsoft.com/office/drawing/2014/main" id="{7A4D0213-1F7A-175D-4774-0E1E9B82FA6A}"/>
              </a:ext>
            </a:extLst>
          </p:cNvPr>
          <p:cNvSpPr>
            <a:spLocks noGrp="1"/>
          </p:cNvSpPr>
          <p:nvPr>
            <p:ph type="title"/>
          </p:nvPr>
        </p:nvSpPr>
        <p:spPr>
          <a:xfrm>
            <a:off x="647700" y="871759"/>
            <a:ext cx="7467600" cy="3913784"/>
          </a:xfrm>
        </p:spPr>
        <p:txBody>
          <a:bodyPr vert="horz" lIns="91440" tIns="45720" rIns="91440" bIns="45720" rtlCol="0" anchor="t">
            <a:normAutofit/>
          </a:bodyPr>
          <a:lstStyle/>
          <a:p>
            <a:r>
              <a:rPr lang="en-US" sz="8000" dirty="0" err="1"/>
              <a:t>Vă</a:t>
            </a:r>
            <a:r>
              <a:rPr lang="en-US" sz="8000" dirty="0"/>
              <a:t> </a:t>
            </a:r>
            <a:r>
              <a:rPr lang="en-US" sz="8000" dirty="0" err="1"/>
              <a:t>muțumim</a:t>
            </a:r>
            <a:r>
              <a:rPr lang="en-US" sz="8000" dirty="0"/>
              <a:t> </a:t>
            </a:r>
            <a:r>
              <a:rPr lang="en-US" sz="8000" dirty="0" err="1"/>
              <a:t>pentru</a:t>
            </a:r>
            <a:r>
              <a:rPr lang="en-US" sz="8000" dirty="0"/>
              <a:t> </a:t>
            </a:r>
            <a:r>
              <a:rPr lang="en-US" sz="8000" dirty="0" err="1"/>
              <a:t>atenție</a:t>
            </a:r>
            <a:endParaRPr lang="en-US" sz="8000" dirty="0"/>
          </a:p>
        </p:txBody>
      </p:sp>
      <p:cxnSp>
        <p:nvCxnSpPr>
          <p:cNvPr id="14" name="Straight Connector 13">
            <a:extLst>
              <a:ext uri="{FF2B5EF4-FFF2-40B4-BE49-F238E27FC236}">
                <a16:creationId xmlns:a16="http://schemas.microsoft.com/office/drawing/2014/main" id="{91AFE2CA-5B3A-141B-BA1D-064BC79E6B9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7846311"/>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otalTime>449</TotalTime>
  <Words>939</Words>
  <Application>Microsoft Office PowerPoint</Application>
  <PresentationFormat>Ecran lat</PresentationFormat>
  <Paragraphs>79</Paragraphs>
  <Slides>14</Slides>
  <Notes>0</Notes>
  <HiddenSlides>0</HiddenSlides>
  <MMClips>0</MMClips>
  <ScaleCrop>false</ScaleCrop>
  <HeadingPairs>
    <vt:vector size="6" baseType="variant">
      <vt:variant>
        <vt:lpstr>Fonturi utilizate</vt:lpstr>
      </vt:variant>
      <vt:variant>
        <vt:i4>7</vt:i4>
      </vt:variant>
      <vt:variant>
        <vt:lpstr>Temă</vt:lpstr>
      </vt:variant>
      <vt:variant>
        <vt:i4>1</vt:i4>
      </vt:variant>
      <vt:variant>
        <vt:lpstr>Titluri diapozitive</vt:lpstr>
      </vt:variant>
      <vt:variant>
        <vt:i4>14</vt:i4>
      </vt:variant>
    </vt:vector>
  </HeadingPairs>
  <TitlesOfParts>
    <vt:vector size="22" baseType="lpstr">
      <vt:lpstr>Aptos</vt:lpstr>
      <vt:lpstr>Arial</vt:lpstr>
      <vt:lpstr>Calisto MT</vt:lpstr>
      <vt:lpstr>Cambria Math</vt:lpstr>
      <vt:lpstr>Courier New</vt:lpstr>
      <vt:lpstr>Univers Condensed</vt:lpstr>
      <vt:lpstr>Wingdings</vt:lpstr>
      <vt:lpstr>ChronicleVTI</vt:lpstr>
      <vt:lpstr>Clasificarea mișcărilor prin intermediul semnalelor EMG</vt:lpstr>
      <vt:lpstr>Definirea Proiectului</vt:lpstr>
      <vt:lpstr>Preprocesarea Datelor</vt:lpstr>
      <vt:lpstr>Preprocesarea Datelor</vt:lpstr>
      <vt:lpstr>Preprocesarea Datelor</vt:lpstr>
      <vt:lpstr>Preprocesarea Datelor</vt:lpstr>
      <vt:lpstr>Metode de clasificare</vt:lpstr>
      <vt:lpstr>Metode de clasificare</vt:lpstr>
      <vt:lpstr>Metode de clasificare</vt:lpstr>
      <vt:lpstr>Metode de clasificare</vt:lpstr>
      <vt:lpstr>Metode de clasificare</vt:lpstr>
      <vt:lpstr>Metode de clasificare</vt:lpstr>
      <vt:lpstr>Verificarea Asimetriei</vt:lpstr>
      <vt:lpstr>Vă muțumim pentru atenție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 MUȘAT (125570)</dc:creator>
  <cp:lastModifiedBy>Daniel MUȘAT (125570)</cp:lastModifiedBy>
  <cp:revision>4</cp:revision>
  <dcterms:created xsi:type="dcterms:W3CDTF">2026-01-19T17:33:58Z</dcterms:created>
  <dcterms:modified xsi:type="dcterms:W3CDTF">2026-01-20T07:16:02Z</dcterms:modified>
</cp:coreProperties>
</file>